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1" r:id="rId2"/>
    <p:sldId id="282" r:id="rId7"/>
    <p:sldId id="283" r:id="rId8"/>
    <p:sldId id="284" r:id="rId9"/>
    <p:sldId id="285" r:id="rId10"/>
    <p:sldId id="286" r:id="rId11"/>
    <p:sldId id="287" r:id="rId12"/>
    <p:sldId id="288" r:id="rId13"/>
    <p:sldId id="289" r:id="rId14"/>
    <p:sldId id="290" r:id="rId15"/>
    <p:sldId id="291" r:id="rId16"/>
    <p:sldId id="292" r:id="rId17"/>
    <p:sldId id="293" r:id="rId18"/>
    <p:sldId id="294" r:id="rId19"/>
    <p:sldId id="295" r:id="rId20"/>
    <p:sldId id="296" r:id="rId21"/>
    <p:sldId id="297" r:id="rId22"/>
    <p:sldId id="298" r:id="rId23"/>
    <p:sldId id="299" r:id="rId24"/>
    <p:sldId id="300" r:id="rId25"/>
    <p:sldId id="301" r:id="rId26"/>
    <p:sldId id="302" r:id="rId6"/>
    <p:sldId id="303" r:id="rId5"/>
    <p:sldId id="304" r:id="rId4"/>
    <p:sldId id="305" r:id="rId3"/>
    <p:sldId id="306" r:id="rId31"/>
    <p:sldId id="307" r:id="rId32"/>
    <p:sldId id="308" r:id="rId33"/>
    <p:sldId id="309" r:id="rId34"/>
    <p:sldId id="310"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3" d="100"/>
          <a:sy n="93" d="100"/>
        </p:scale>
        <p:origin x="27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5.xml"/><Relationship Id="rId4" Type="http://schemas.openxmlformats.org/officeDocument/2006/relationships/slide" Target="slides/slide24.xml"/><Relationship Id="rId5" Type="http://schemas.openxmlformats.org/officeDocument/2006/relationships/slide" Target="slides/slide23.xml"/><Relationship Id="rId6" Type="http://schemas.openxmlformats.org/officeDocument/2006/relationships/slide" Target="slides/slide22.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I am Jhala Nath Kafle, roll number 081MSPSE009. My project is an adaptive overcurrent protection scheme for dual-setting directional recloser and fuse coordination in distribution networks with distributed generation, implemented on the IEEE 13-node feeder in DIgSILENT PowerFactory.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cover the introduction, objectives, scope, methodology, results, conclusions and references. The comparison with the reference paper is in the appendix.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fuse-saving scheme the recloser trips first on its fast curve, so a temporary fault clears and the fuse is saved; for a permanent fault the delayed curve lets the fuse clear its lateral. This works only while the recloser and the fuse carry the same current, and a DG changes both the size and the direction of the fault current.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 DG the fuse carries grid plus DG current, while the recloser sees only the grid part, and a mid-line recloser can even see reverse current. The fuse may then melt before the fast trip. The solution studied is the dual-setting directional recloser, or DSDR: R2 gets separate forward and reverse settings, chosen by the current direction.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general objective was to build and validate a PowerFactory implementation of the DSDR method on the IEEE 13-node feeder, with and without DG. To reach it there are seven specific objectives: the model, load flow and short circuit, the settings, coordination without and with the DG, the dual setting of R2, a time-domain check, and the effect of DG penetration.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study covers four fault types at twelve locations, which gives 39 node and fault-type cells, plus one EMT simulation and a penetration study. The limitations: some settings are not published and were chosen and documented; the CDG34 relay model is not directional, so two relay units are used; a zero margin is used; and only one DG location is studied.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method has three stages: A, the conventional design without DG, with pickup equal to 1.25 times the rated current; B, the same settings with the DG; and C, R2 as a DSDR. If coordination is lost, the time dial is revised first, and at the dial limit the fuse is made larger. The fuse must not melt before the fast trip, and must clear before the delayed trip.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equations of the method. Each recloser has the same inverse-time curve with a fast and a delayed time dial, in the forward and, for the DSDR, the reverse direction. The pickup is 1.25 times the load current in that direction and must stay below the smallest fault current. Each fuse follows a straight line on log-log axes with slope minus 1.8; its coefficient b places it between the fast and delayed recloser times. Coordination holds when the fuse melts after the fast trip and clears before the delayed trip.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PowerFactory model: a 4.16 kV feeder fed from a 115 kV grid, a 4.05 MVA synchronous generator at node 692, R1 a GE IAC77 relay at the feeder head, R2 a CDG34 relay on line 632 to 671, and A055C fuses on the laterals.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parameters of the synchronous DG used in the model, 4.05 MVA at 0.69 kilovolts, connected at node 692 through a 0.69 to 4.16 kilovolt transformer.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R1 has a pickup of 720 amperes and dials 0.5 and 10. R2 forward uses plugs of 300 and 600 amperes, the new reverse group 150 and 300 amperes. With the DG, the load current through R2 reverses to 252 amperes, giving a reverse pickup of about 315 amperes. The dials were already at their limits, so the fuse sizes were revised as shown.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result is the base case without DG: the rated current of each protected branch from the load flow, the minimum fault current, an LG fault through 3 ohm at the farthest node, and the maximum, a bolted fault at the nearest node. The feeder head sees 4.73 kiloamperes.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method's fuse equation, slope a equal to minus 1.8, the coefficient b of every fuse follows from the recloser times at the largest fault current below that fuse. The last columns give the installed fuse and its melting time.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DG, 35 of 39 cells were coordinated, and all 39 after one fuse change. In both examples, an LG fault at 611 and an LLG fault between 692 and 675, R2's fast curve is below the fuses and its delayed curve above them.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DG and unchanged settings, coordination holds in only 24 of 39 cells. Losses are at 633, 645, 646, the distributed load and 675: the fuse melts before the fast trip, and for some LG faults R2 does not even pick up the reverse current.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faults with the DG and the conventional settings. At 646 and 645 through a fault impedance the recloser still trips first. For the three-phase fault close to 632, R2 carries 1777 amperes in reverse and trips in 0.121 seconds, but fuse F633 melts in 0.039 seconds: coordination is lost.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R2 as a DSDR and revised fuses, 38 of 39 cells are held. With the same fuses and a single setting only 31, so the dual setting itself restores seven cells, at 633, 645, 646 and the distributed load. Only the LG fault at 692 stays lost, at the limit of R2's dial range.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bolted line-to-line fault at 646 with the DSDR. The fuses carry 3.67 kiloamperes. R2 sees the DG share, 1114 amperes in reverse, and its reverse group trips in 0.086 seconds; R1 sees the grid share and trips in 0.189 seconds. Both are before F646 starts to melt at 0.415 seconds, so the fuse is saved.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gives the operating times with the DSDR and the DG connected. R2 works in reverse for the nodes above it and forward for those below. In every row the fuse starts to melt after the last fast trip; the smallest margins are 6 milliseconds at 675 and 15 at the distributed load.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case in detail: a three-phase fault near 632, with 1777 amperes in reverse through R2. With the single setting R2 trips in 0.121 seconds but the fuse starts melting at 0.100 seconds: lost. With the reverse group R2 trips in 0.052 seconds: held. Only the setting group changed.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 second check I followed every fault in time. Above R2 the single setting holds 15 of 18 cells and the DSDR all 18; the restored cells are the LG faults at 633, 645 and 646. Below R2 the DG feeds the fault directly, so the setting of R2 makes no difference.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EMT simulation is a line-to-line fault at 684 with conventional settings. Without DG the two fast shots use only 45 percent of the fuse's melting heat, and the fuse then clears the permanent fault. With the DG, current keeps flowing while R2 is open, and the fuse melts at 0.75 seconds, during the second fast shot.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models with the DG from 0 to 100 percent and fixed settings show the CTI, the fuse melting time minus the recloser fast time, falling: at 633 from plus 4 to minus 51 milliseconds, at 671 from 403 to 75 milliseconds. The fuse carries grid plus DG current, the recloser only the grid share, so the fuse speeds up much faster.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39 cells without DG, 24 with the DG, and 38 with the DSDR. PowerFactory's own relay and fuse models reproduced all 1896 operating times within 1.22 percent.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the DG reduces coordination from 39 to 24 cells, and a dual-setting R2 with the fuse revision restores it to 38. The DSDR works in the zone between the grid and the DG, but needs the fuse revision, and faults below R2 remain a limit. Future work includes the 34-node feeder, a true directional element, practical margins and inverter-based DG.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main references; the method is from Yousaf and co-authors, 2022.</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Compared with the reference paper, load currents agree within 2 percent and the R1 worked example almost exactly. My fault levels are lower because I validated against the IEEE benchmark. The paper reports 30 and 39 coordinated cells, I obtained 24 and 38. The main finding is reproduced.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fault levels are lower than the paper's, so I checked them against the IEEE short-circuit benchmark, the source the same authors used in their 2020 paper. My model agrees within 2 percent at ten of eleven nodes. The paper's values are up to 151 percent higher, and two of them exceed its own feeder-head value of 5.41 kiloamperes, which is not possible in a radial feeder without DG.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studies show the margin decreasing with DG penetration; where it turns negative depends on settings the paper does not publish.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I am happy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9/7/2026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9/7/2026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u_logo_crop.png"/>
          <p:cNvPicPr>
            <a:picLocks noChangeAspect="1"/>
          </p:cNvPicPr>
          <p:nvPr/>
        </p:nvPicPr>
        <p:blipFill>
          <a:blip r:embed="rId2"/>
          <a:stretch>
            <a:fillRect/>
          </a:stretch>
        </p:blipFill>
        <p:spPr>
          <a:xfrm>
            <a:off x="294132" y="146304"/>
            <a:ext cx="530352" cy="583387"/>
          </a:xfrm>
          <a:prstGeom prst="rect">
            <a:avLst/>
          </a:prstGeom>
        </p:spPr>
      </p:pic>
      <p:sp>
        <p:nvSpPr>
          <p:cNvPr id="3" name="TextBox 2"/>
          <p:cNvSpPr txBox="1"/>
          <p:nvPr/>
        </p:nvSpPr>
        <p:spPr>
          <a:xfrm>
            <a:off x="1043940" y="356616"/>
            <a:ext cx="8046720" cy="50292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defRPr sz="2400" b="0">
                <a:solidFill>
                  <a:srgbClr val="123663"/>
                </a:solidFill>
                <a:latin typeface="Aptos"/>
              </a:defRPr>
            </a:pPr>
            <a:r>
              <a:t>Final project presentation on</a:t>
            </a:r>
          </a:p>
        </p:txBody>
      </p:sp>
      <p:sp>
        <p:nvSpPr>
          <p:cNvPr id="4" name="Rectangle 3"/>
          <p:cNvSpPr/>
          <p:nvPr/>
        </p:nvSpPr>
        <p:spPr>
          <a:xfrm>
            <a:off x="879348" y="374903"/>
            <a:ext cx="16459" cy="502920"/>
          </a:xfrm>
          <a:prstGeom prst="rect">
            <a:avLst/>
          </a:prstGeom>
          <a:solidFill>
            <a:srgbClr val="123663"/>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5" name="TextBox 4"/>
          <p:cNvSpPr txBox="1"/>
          <p:nvPr/>
        </p:nvSpPr>
        <p:spPr>
          <a:xfrm>
            <a:off x="449580" y="1271016"/>
            <a:ext cx="11155680" cy="196596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200"/>
              </a:spcAft>
              <a:defRPr sz="2600" b="0">
                <a:solidFill>
                  <a:srgbClr val="123663"/>
                </a:solidFill>
                <a:latin typeface="Aptos Display"/>
              </a:defRPr>
            </a:pPr>
            <a:r>
              <a:t>An Adaptive Overcurrent Protection Scheme for</a:t>
            </a:r>
          </a:p>
          <a:p>
            <a:pPr>
              <a:spcAft>
                <a:spcPts val="200"/>
              </a:spcAft>
              <a:defRPr sz="3100" b="1">
                <a:solidFill>
                  <a:srgbClr val="123663"/>
                </a:solidFill>
                <a:latin typeface="Aptos Display"/>
              </a:defRPr>
            </a:pPr>
            <a:r>
              <a:t>Dual-Setting Directional Recloser and Fuse Coordination</a:t>
            </a:r>
          </a:p>
          <a:p>
            <a:pPr>
              <a:spcAft>
                <a:spcPts val="200"/>
              </a:spcAft>
              <a:defRPr sz="2700" b="0">
                <a:solidFill>
                  <a:srgbClr val="123663"/>
                </a:solidFill>
                <a:latin typeface="Aptos Display"/>
              </a:defRPr>
            </a:pPr>
            <a:r>
              <a:t>in Unbalanced Distribution Networks With Distributed Generation</a:t>
            </a:r>
          </a:p>
        </p:txBody>
      </p:sp>
      <p:sp>
        <p:nvSpPr>
          <p:cNvPr id="6" name="Rectangle 5"/>
          <p:cNvSpPr/>
          <p:nvPr/>
        </p:nvSpPr>
        <p:spPr>
          <a:xfrm>
            <a:off x="467867" y="3282696"/>
            <a:ext cx="4572000" cy="32004"/>
          </a:xfrm>
          <a:prstGeom prst="rect">
            <a:avLst/>
          </a:prstGeom>
          <a:solidFill>
            <a:srgbClr val="2370BE"/>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7" name="Rectangle 6"/>
          <p:cNvSpPr/>
          <p:nvPr/>
        </p:nvSpPr>
        <p:spPr>
          <a:xfrm>
            <a:off x="5999988" y="4169664"/>
            <a:ext cx="10972" cy="1143000"/>
          </a:xfrm>
          <a:prstGeom prst="rect">
            <a:avLst/>
          </a:prstGeom>
          <a:solidFill>
            <a:srgbClr val="78A0C8"/>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8" name="Oval 7"/>
          <p:cNvSpPr/>
          <p:nvPr/>
        </p:nvSpPr>
        <p:spPr>
          <a:xfrm>
            <a:off x="449580" y="4151376"/>
            <a:ext cx="438912" cy="438912"/>
          </a:xfrm>
          <a:prstGeom prst="ellipse">
            <a:avLst/>
          </a:prstGeom>
          <a:solidFill>
            <a:srgbClr val="2370BE"/>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9" name="TextBox 8"/>
          <p:cNvSpPr txBox="1"/>
          <p:nvPr/>
        </p:nvSpPr>
        <p:spPr>
          <a:xfrm>
            <a:off x="449580" y="4206240"/>
            <a:ext cx="438912" cy="27432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800">
                <a:solidFill>
                  <a:srgbClr val="FFFFFF"/>
                </a:solidFill>
                <a:latin typeface="Aptos"/>
              </a:defRPr>
            </a:pPr>
            <a:r>
              <a:t>●</a:t>
            </a:r>
          </a:p>
        </p:txBody>
      </p:sp>
      <p:sp>
        <p:nvSpPr>
          <p:cNvPr id="10" name="TextBox 9"/>
          <p:cNvSpPr txBox="1"/>
          <p:nvPr/>
        </p:nvSpPr>
        <p:spPr>
          <a:xfrm>
            <a:off x="1089660" y="4078224"/>
            <a:ext cx="4572000" cy="123444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100"/>
              </a:spcAft>
              <a:defRPr sz="2000" b="1">
                <a:solidFill>
                  <a:srgbClr val="123663"/>
                </a:solidFill>
                <a:latin typeface="Aptos"/>
              </a:defRPr>
            </a:pPr>
            <a:r>
              <a:t>Jhala Nath Kafle</a:t>
            </a:r>
          </a:p>
          <a:p>
            <a:pPr>
              <a:spcAft>
                <a:spcPts val="100"/>
              </a:spcAft>
              <a:defRPr sz="1300" b="0">
                <a:solidFill>
                  <a:srgbClr val="4B4B4B"/>
                </a:solidFill>
                <a:latin typeface="Aptos"/>
              </a:defRPr>
            </a:pPr>
            <a:r>
              <a:t>Master’s Degree in Power System Engineering</a:t>
            </a:r>
          </a:p>
          <a:p>
            <a:pPr>
              <a:spcAft>
                <a:spcPts val="100"/>
              </a:spcAft>
              <a:defRPr sz="1300" b="0">
                <a:solidFill>
                  <a:srgbClr val="4B4B4B"/>
                </a:solidFill>
                <a:latin typeface="Aptos"/>
              </a:defRPr>
            </a:pPr>
            <a:r>
              <a:t>Pulchowk Campus, Institute of Engineering</a:t>
            </a:r>
          </a:p>
          <a:p>
            <a:pPr>
              <a:spcAft>
                <a:spcPts val="100"/>
              </a:spcAft>
              <a:defRPr sz="1300" b="0">
                <a:solidFill>
                  <a:srgbClr val="4B4B4B"/>
                </a:solidFill>
                <a:latin typeface="Aptos"/>
              </a:defRPr>
            </a:pPr>
            <a:r>
              <a:t>October 2026</a:t>
            </a:r>
          </a:p>
        </p:txBody>
      </p:sp>
      <p:sp>
        <p:nvSpPr>
          <p:cNvPr id="11" name="Oval 10"/>
          <p:cNvSpPr/>
          <p:nvPr/>
        </p:nvSpPr>
        <p:spPr>
          <a:xfrm>
            <a:off x="6393180" y="4151376"/>
            <a:ext cx="438912" cy="438912"/>
          </a:xfrm>
          <a:prstGeom prst="ellipse">
            <a:avLst/>
          </a:prstGeom>
          <a:solidFill>
            <a:srgbClr val="2370BE"/>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2" name="TextBox 11"/>
          <p:cNvSpPr txBox="1"/>
          <p:nvPr/>
        </p:nvSpPr>
        <p:spPr>
          <a:xfrm>
            <a:off x="6393180" y="4197096"/>
            <a:ext cx="438912" cy="27432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defRPr sz="1600">
                <a:solidFill>
                  <a:srgbClr val="FFFFFF"/>
                </a:solidFill>
                <a:latin typeface="Aptos"/>
              </a:defRPr>
            </a:pPr>
            <a:r>
              <a:t>▲</a:t>
            </a:r>
          </a:p>
        </p:txBody>
      </p:sp>
      <p:sp>
        <p:nvSpPr>
          <p:cNvPr id="13" name="TextBox 12"/>
          <p:cNvSpPr txBox="1"/>
          <p:nvPr/>
        </p:nvSpPr>
        <p:spPr>
          <a:xfrm>
            <a:off x="7033260" y="4059936"/>
            <a:ext cx="4572000" cy="1234440"/>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Aft>
                <a:spcPts val="300"/>
              </a:spcAft>
              <a:defRPr sz="1800" b="1">
                <a:solidFill>
                  <a:srgbClr val="123663"/>
                </a:solidFill>
                <a:latin typeface="Aptos"/>
              </a:defRPr>
            </a:pPr>
            <a:r>
              <a:t>Department of Electrical Engineering</a:t>
            </a:r>
          </a:p>
          <a:p>
            <a:pPr>
              <a:spcAft>
                <a:spcPts val="300"/>
              </a:spcAft>
              <a:defRPr sz="1300" b="0">
                <a:solidFill>
                  <a:srgbClr val="4B4B4B"/>
                </a:solidFill>
                <a:latin typeface="Aptos"/>
              </a:defRPr>
            </a:pPr>
            <a:r>
              <a:t>Pulchowk Campus, Institute of Engineering</a:t>
            </a:r>
          </a:p>
          <a:p>
            <a:pPr>
              <a:spcAft>
                <a:spcPts val="300"/>
              </a:spcAft>
              <a:defRPr sz="1300" b="0">
                <a:solidFill>
                  <a:srgbClr val="4B4B4B"/>
                </a:solidFill>
                <a:latin typeface="Aptos"/>
              </a:defRPr>
            </a:pPr>
            <a:r>
              <a:t>Tribhuvan University</a:t>
            </a:r>
          </a:p>
        </p:txBody>
      </p:sp>
      <p:sp>
        <p:nvSpPr>
          <p:cNvPr id="14" name="Rectangle 13"/>
          <p:cNvSpPr/>
          <p:nvPr/>
        </p:nvSpPr>
        <p:spPr>
          <a:xfrm>
            <a:off x="-53340" y="6419088"/>
            <a:ext cx="12191695" cy="292608"/>
          </a:xfrm>
          <a:prstGeom prst="rect">
            <a:avLst/>
          </a:prstGeom>
          <a:solidFill>
            <a:srgbClr val="184376"/>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5" name="Parallelogram 14"/>
          <p:cNvSpPr/>
          <p:nvPr/>
        </p:nvSpPr>
        <p:spPr>
          <a:xfrm>
            <a:off x="9319260" y="6208776"/>
            <a:ext cx="2926080" cy="502920"/>
          </a:xfrm>
          <a:prstGeom prst="parallelogram">
            <a:avLst/>
          </a:prstGeom>
          <a:solidFill>
            <a:srgbClr val="96C5EC"/>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6" name="Parallelogram 15"/>
          <p:cNvSpPr/>
          <p:nvPr/>
        </p:nvSpPr>
        <p:spPr>
          <a:xfrm>
            <a:off x="9227820" y="6327648"/>
            <a:ext cx="2926080" cy="164592"/>
          </a:xfrm>
          <a:prstGeom prst="parallelogram">
            <a:avLst/>
          </a:prstGeom>
          <a:solidFill>
            <a:srgbClr val="2370BE"/>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7" name="TextBox 16"/>
          <p:cNvSpPr txBox="1"/>
          <p:nvPr/>
        </p:nvSpPr>
        <p:spPr>
          <a:xfrm>
            <a:off x="11513820" y="6419088"/>
            <a:ext cx="411480" cy="164592"/>
          </a:xfrm>
          <a:prstGeom prst="rect">
            <a:avLst/>
          </a:prstGeom>
          <a:noFill/>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defRPr sz="700">
                <a:solidFill>
                  <a:srgbClr val="828282"/>
                </a:solidFill>
                <a:latin typeface="Aptos"/>
              </a:defRPr>
            </a:pPr>
            <a:r>
              <a:t>1/30</a:t>
            </a:r>
          </a:p>
        </p:txBody>
      </p:sp>
    </p:spTree>
    <p:extLst>
      <p:ext uri="{BB962C8B-B14F-4D97-AF65-F5344CB8AC3E}">
        <p14:creationId xmlns:p14="http://schemas.microsoft.com/office/powerpoint/2010/main" val="348402708"/>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Presentation Outline</a:t>
            </a:r>
          </a:p>
        </p:txBody>
      </p:sp>
      <p:sp>
        <p:nvSpPr>
          <p:cNvPr id="4" name="Rounded Rectangle 3"/>
          <p:cNvSpPr/>
          <p:nvPr/>
        </p:nvSpPr>
        <p:spPr>
          <a:xfrm>
            <a:off x="594360" y="1325880"/>
            <a:ext cx="2514600" cy="1783080"/>
          </a:xfrm>
          <a:prstGeom prst="roundRect">
            <a:avLst>
              <a:gd name="adj" fmla="val 8000"/>
            </a:avLst>
          </a:prstGeom>
          <a:solidFill>
            <a:srgbClr val="EEF4F9"/>
          </a:solidFill>
          <a:ln>
            <a:solidFill>
              <a:srgbClr val="9DB4C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a:solidFill>
                  <a:srgbClr val="1B3755"/>
                </a:solidFill>
                <a:latin typeface="Aptos"/>
              </a:rPr>
              <a:t>1. Introduction</a:t>
            </a:r>
          </a:p>
          <a:p>
            <a:pPr algn="ctr"/>
            <a:r>
              <a:rPr sz="1400">
                <a:solidFill>
                  <a:srgbClr val="262D34"/>
                </a:solidFill>
                <a:latin typeface="Aptos"/>
              </a:rPr>
              <a:t>Background and problem</a:t>
            </a:r>
          </a:p>
        </p:txBody>
      </p:sp>
      <p:sp>
        <p:nvSpPr>
          <p:cNvPr id="5" name="Rounded Rectangle 4"/>
          <p:cNvSpPr/>
          <p:nvPr/>
        </p:nvSpPr>
        <p:spPr>
          <a:xfrm>
            <a:off x="3383279" y="1325880"/>
            <a:ext cx="2514600" cy="1783080"/>
          </a:xfrm>
          <a:prstGeom prst="roundRect">
            <a:avLst>
              <a:gd name="adj" fmla="val 8000"/>
            </a:avLst>
          </a:prstGeom>
          <a:solidFill>
            <a:srgbClr val="EEF4F9"/>
          </a:solidFill>
          <a:ln>
            <a:solidFill>
              <a:srgbClr val="9DB4C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a:solidFill>
                  <a:srgbClr val="1B3755"/>
                </a:solidFill>
                <a:latin typeface="Aptos"/>
              </a:rPr>
              <a:t>2. Objectives</a:t>
            </a:r>
          </a:p>
          <a:p>
            <a:pPr algn="ctr"/>
            <a:r>
              <a:rPr sz="1400">
                <a:solidFill>
                  <a:srgbClr val="262D34"/>
                </a:solidFill>
                <a:latin typeface="Aptos"/>
              </a:rPr>
              <a:t>General and specific</a:t>
            </a:r>
          </a:p>
        </p:txBody>
      </p:sp>
      <p:sp>
        <p:nvSpPr>
          <p:cNvPr id="6" name="Rounded Rectangle 5"/>
          <p:cNvSpPr/>
          <p:nvPr/>
        </p:nvSpPr>
        <p:spPr>
          <a:xfrm>
            <a:off x="6172200" y="1325880"/>
            <a:ext cx="2514600" cy="1783080"/>
          </a:xfrm>
          <a:prstGeom prst="roundRect">
            <a:avLst>
              <a:gd name="adj" fmla="val 8000"/>
            </a:avLst>
          </a:prstGeom>
          <a:solidFill>
            <a:srgbClr val="EEF4F9"/>
          </a:solidFill>
          <a:ln>
            <a:solidFill>
              <a:srgbClr val="9DB4C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a:solidFill>
                  <a:srgbClr val="1B3755"/>
                </a:solidFill>
                <a:latin typeface="Aptos"/>
              </a:rPr>
              <a:t>3. Scope</a:t>
            </a:r>
          </a:p>
          <a:p>
            <a:pPr algn="ctr"/>
            <a:r>
              <a:rPr sz="1400">
                <a:solidFill>
                  <a:srgbClr val="262D34"/>
                </a:solidFill>
                <a:latin typeface="Aptos"/>
              </a:rPr>
              <a:t>What the study covers</a:t>
            </a:r>
          </a:p>
        </p:txBody>
      </p:sp>
      <p:sp>
        <p:nvSpPr>
          <p:cNvPr id="7" name="Rounded Rectangle 6"/>
          <p:cNvSpPr/>
          <p:nvPr/>
        </p:nvSpPr>
        <p:spPr>
          <a:xfrm>
            <a:off x="8961119" y="1325880"/>
            <a:ext cx="2514600" cy="1783080"/>
          </a:xfrm>
          <a:prstGeom prst="roundRect">
            <a:avLst>
              <a:gd name="adj" fmla="val 8000"/>
            </a:avLst>
          </a:prstGeom>
          <a:solidFill>
            <a:srgbClr val="EEF4F9"/>
          </a:solidFill>
          <a:ln>
            <a:solidFill>
              <a:srgbClr val="9DB4C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a:solidFill>
                  <a:srgbClr val="1B3755"/>
                </a:solidFill>
                <a:latin typeface="Aptos"/>
              </a:rPr>
              <a:t>4. Methodology</a:t>
            </a:r>
          </a:p>
          <a:p>
            <a:pPr algn="ctr"/>
            <a:r>
              <a:rPr sz="1400">
                <a:solidFill>
                  <a:srgbClr val="262D34"/>
                </a:solidFill>
                <a:latin typeface="Aptos"/>
              </a:rPr>
              <a:t>Method, model and settings</a:t>
            </a:r>
          </a:p>
        </p:txBody>
      </p:sp>
      <p:sp>
        <p:nvSpPr>
          <p:cNvPr id="8" name="Rounded Rectangle 7"/>
          <p:cNvSpPr/>
          <p:nvPr/>
        </p:nvSpPr>
        <p:spPr>
          <a:xfrm>
            <a:off x="594360" y="3474720"/>
            <a:ext cx="2514600" cy="1783080"/>
          </a:xfrm>
          <a:prstGeom prst="roundRect">
            <a:avLst>
              <a:gd name="adj" fmla="val 8000"/>
            </a:avLst>
          </a:prstGeom>
          <a:solidFill>
            <a:srgbClr val="EEF4F9"/>
          </a:solidFill>
          <a:ln>
            <a:solidFill>
              <a:srgbClr val="9DB4C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a:solidFill>
                  <a:srgbClr val="1B3755"/>
                </a:solidFill>
                <a:latin typeface="Aptos"/>
              </a:rPr>
              <a:t>5. Results</a:t>
            </a:r>
          </a:p>
          <a:p>
            <a:pPr algn="ctr"/>
            <a:r>
              <a:rPr sz="1400">
                <a:solidFill>
                  <a:srgbClr val="262D34"/>
                </a:solidFill>
                <a:latin typeface="Aptos"/>
              </a:rPr>
              <a:t>Coordination, time domain, DG penetration</a:t>
            </a:r>
          </a:p>
        </p:txBody>
      </p:sp>
      <p:sp>
        <p:nvSpPr>
          <p:cNvPr id="9" name="Rounded Rectangle 8"/>
          <p:cNvSpPr/>
          <p:nvPr/>
        </p:nvSpPr>
        <p:spPr>
          <a:xfrm>
            <a:off x="3383279" y="3474720"/>
            <a:ext cx="2514600" cy="1783080"/>
          </a:xfrm>
          <a:prstGeom prst="roundRect">
            <a:avLst>
              <a:gd name="adj" fmla="val 8000"/>
            </a:avLst>
          </a:prstGeom>
          <a:solidFill>
            <a:srgbClr val="EEF4F9"/>
          </a:solidFill>
          <a:ln>
            <a:solidFill>
              <a:srgbClr val="9DB4C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a:solidFill>
                  <a:srgbClr val="1B3755"/>
                </a:solidFill>
                <a:latin typeface="Aptos"/>
              </a:rPr>
              <a:t>6. Conclusions</a:t>
            </a:r>
          </a:p>
          <a:p>
            <a:pPr algn="ctr"/>
            <a:r>
              <a:rPr sz="1400">
                <a:solidFill>
                  <a:srgbClr val="262D34"/>
                </a:solidFill>
                <a:latin typeface="Aptos"/>
              </a:rPr>
              <a:t>Findings and future work</a:t>
            </a:r>
          </a:p>
        </p:txBody>
      </p:sp>
      <p:sp>
        <p:nvSpPr>
          <p:cNvPr id="10" name="Rounded Rectangle 9"/>
          <p:cNvSpPr/>
          <p:nvPr/>
        </p:nvSpPr>
        <p:spPr>
          <a:xfrm>
            <a:off x="6172200" y="3474720"/>
            <a:ext cx="2514600" cy="1783080"/>
          </a:xfrm>
          <a:prstGeom prst="roundRect">
            <a:avLst>
              <a:gd name="adj" fmla="val 8000"/>
            </a:avLst>
          </a:prstGeom>
          <a:solidFill>
            <a:srgbClr val="EEF4F9"/>
          </a:solidFill>
          <a:ln>
            <a:solidFill>
              <a:srgbClr val="9DB4C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a:solidFill>
                  <a:srgbClr val="1B3755"/>
                </a:solidFill>
                <a:latin typeface="Aptos"/>
              </a:rPr>
              <a:t>7. References</a:t>
            </a:r>
          </a:p>
          <a:p>
            <a:pPr algn="ctr"/>
            <a:r>
              <a:rPr sz="1400">
                <a:solidFill>
                  <a:srgbClr val="262D34"/>
                </a:solidFill>
                <a:latin typeface="Aptos"/>
              </a:rPr>
              <a:t>Sources used</a:t>
            </a:r>
          </a:p>
        </p:txBody>
      </p:sp>
      <p:sp>
        <p:nvSpPr>
          <p:cNvPr id="11" name="Rounded Rectangle 10"/>
          <p:cNvSpPr/>
          <p:nvPr/>
        </p:nvSpPr>
        <p:spPr>
          <a:xfrm>
            <a:off x="8961119" y="3474720"/>
            <a:ext cx="2514600" cy="1783080"/>
          </a:xfrm>
          <a:prstGeom prst="roundRect">
            <a:avLst>
              <a:gd name="adj" fmla="val 8000"/>
            </a:avLst>
          </a:prstGeom>
          <a:solidFill>
            <a:srgbClr val="EEF4F9"/>
          </a:solidFill>
          <a:ln>
            <a:solidFill>
              <a:srgbClr val="9DB4C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a:solidFill>
                  <a:srgbClr val="1B3755"/>
                </a:solidFill>
                <a:latin typeface="Aptos"/>
              </a:rPr>
              <a:t>8. Appendix</a:t>
            </a:r>
          </a:p>
          <a:p>
            <a:pPr algn="ctr"/>
            <a:r>
              <a:rPr sz="1400">
                <a:solidFill>
                  <a:srgbClr val="262D34"/>
                </a:solidFill>
                <a:latin typeface="Aptos"/>
              </a:rPr>
              <a:t>Comparison with the reference paper</a:t>
            </a:r>
          </a:p>
        </p:txBody>
      </p:sp>
      <p:sp>
        <p:nvSpPr>
          <p:cNvPr id="12" name="TextBox 11"/>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2/30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1. Introduction: Recloser–Fuse Coordination</a:t>
            </a:r>
          </a:p>
        </p:txBody>
      </p:sp>
      <p:sp>
        <p:nvSpPr>
          <p:cNvPr id="4" name="TextBox 3"/>
          <p:cNvSpPr txBox="1"/>
          <p:nvPr/>
        </p:nvSpPr>
        <p:spPr>
          <a:xfrm>
            <a:off x="685800" y="1188720"/>
            <a:ext cx="5120640" cy="4389120"/>
          </a:xfrm>
          <a:prstGeom prst="rect">
            <a:avLst/>
          </a:prstGeom>
          <a:noFill/>
        </p:spPr>
        <p:txBody>
          <a:bodyPr wrap="square">
            <a:spAutoFit/>
          </a:bodyPr>
          <a:lstStyle/>
          <a:p>
            <a:pPr marL="342900" indent="-285750">
              <a:spcAft>
                <a:spcPts val="800"/>
              </a:spcAft>
              <a:buChar char="•"/>
            </a:pPr>
            <a:r>
              <a:rPr sz="1700" b="1">
                <a:solidFill>
                  <a:srgbClr val="262D34"/>
                </a:solidFill>
                <a:latin typeface="Aptos"/>
              </a:rPr>
              <a:t>Fuse saving:</a:t>
            </a:r>
            <a:r>
              <a:rPr sz="1700" b="0">
                <a:solidFill>
                  <a:srgbClr val="262D34"/>
                </a:solidFill>
                <a:latin typeface="Aptos"/>
              </a:rPr>
              <a:t> the recloser's fast trip clears a temporary fault before the lateral fuse melts; its delayed trip lets the fuse clear a permanent fault.</a:t>
            </a:r>
          </a:p>
          <a:p>
            <a:pPr marL="342900" indent="-285750">
              <a:spcAft>
                <a:spcPts val="800"/>
              </a:spcAft>
              <a:buChar char="•"/>
            </a:pPr>
            <a:r>
              <a:rPr sz="1700" b="0">
                <a:solidFill>
                  <a:srgbClr val="262D34"/>
                </a:solidFill>
                <a:latin typeface="Aptos"/>
              </a:rPr>
              <a:t>Fast curve </a:t>
            </a:r>
            <a:r>
              <a:rPr sz="1700" b="1">
                <a:solidFill>
                  <a:srgbClr val="262D34"/>
                </a:solidFill>
                <a:latin typeface="Aptos"/>
              </a:rPr>
              <a:t>below</a:t>
            </a:r>
            <a:r>
              <a:rPr sz="1700" b="0">
                <a:solidFill>
                  <a:srgbClr val="262D34"/>
                </a:solidFill>
                <a:latin typeface="Aptos"/>
              </a:rPr>
              <a:t> the fuse's melting curve, delayed curve </a:t>
            </a:r>
            <a:r>
              <a:rPr sz="1700" b="1">
                <a:solidFill>
                  <a:srgbClr val="262D34"/>
                </a:solidFill>
                <a:latin typeface="Aptos"/>
              </a:rPr>
              <a:t>above</a:t>
            </a:r>
            <a:r>
              <a:rPr sz="1700" b="0">
                <a:solidFill>
                  <a:srgbClr val="262D34"/>
                </a:solidFill>
                <a:latin typeface="Aptos"/>
              </a:rPr>
              <a:t> its clearing curve.</a:t>
            </a:r>
          </a:p>
          <a:p>
            <a:pPr marL="342900" indent="-285750">
              <a:spcAft>
                <a:spcPts val="800"/>
              </a:spcAft>
              <a:buChar char="•"/>
            </a:pPr>
            <a:r>
              <a:rPr sz="1700" b="0">
                <a:solidFill>
                  <a:srgbClr val="262D34"/>
                </a:solidFill>
                <a:latin typeface="Aptos"/>
              </a:rPr>
              <a:t>Coordination is guaranteed only while the recloser and the fuse carry the </a:t>
            </a:r>
            <a:r>
              <a:rPr sz="1700" b="1">
                <a:solidFill>
                  <a:srgbClr val="262D34"/>
                </a:solidFill>
                <a:latin typeface="Aptos"/>
              </a:rPr>
              <a:t>same current</a:t>
            </a:r>
            <a:r>
              <a:rPr sz="1700" b="0">
                <a:solidFill>
                  <a:srgbClr val="262D34"/>
                </a:solidFill>
                <a:latin typeface="Aptos"/>
              </a:rPr>
              <a:t>.</a:t>
            </a:r>
          </a:p>
          <a:p>
            <a:pPr marL="342900" indent="-285750">
              <a:spcAft>
                <a:spcPts val="800"/>
              </a:spcAft>
              <a:buChar char="•"/>
            </a:pPr>
            <a:r>
              <a:rPr sz="1700" b="0">
                <a:solidFill>
                  <a:srgbClr val="262D34"/>
                </a:solidFill>
                <a:latin typeface="Aptos"/>
              </a:rPr>
              <a:t>A distributed generator (DG) changes the </a:t>
            </a:r>
            <a:r>
              <a:rPr sz="1700" b="1">
                <a:solidFill>
                  <a:srgbClr val="262D34"/>
                </a:solidFill>
                <a:latin typeface="Aptos"/>
              </a:rPr>
              <a:t>magnitude</a:t>
            </a:r>
            <a:r>
              <a:rPr sz="1700" b="0">
                <a:solidFill>
                  <a:srgbClr val="262D34"/>
                </a:solidFill>
                <a:latin typeface="Aptos"/>
              </a:rPr>
              <a:t> and the </a:t>
            </a:r>
            <a:r>
              <a:rPr sz="1700" b="1">
                <a:solidFill>
                  <a:srgbClr val="262D34"/>
                </a:solidFill>
                <a:latin typeface="Aptos"/>
              </a:rPr>
              <a:t>direction</a:t>
            </a:r>
            <a:r>
              <a:rPr sz="1700" b="0">
                <a:solidFill>
                  <a:srgbClr val="262D34"/>
                </a:solidFill>
                <a:latin typeface="Aptos"/>
              </a:rPr>
              <a:t> of the fault current.</a:t>
            </a:r>
          </a:p>
        </p:txBody>
      </p:sp>
      <p:pic>
        <p:nvPicPr>
          <p:cNvPr id="5" name="Picture 4" descr="fig01.png"/>
          <p:cNvPicPr>
            <a:picLocks noChangeAspect="1"/>
          </p:cNvPicPr>
          <p:nvPr/>
        </p:nvPicPr>
        <p:blipFill>
          <a:blip r:embed="rId2"/>
          <a:stretch>
            <a:fillRect/>
          </a:stretch>
        </p:blipFill>
        <p:spPr>
          <a:xfrm>
            <a:off x="5989320" y="1313410"/>
            <a:ext cx="5440680" cy="3956858"/>
          </a:xfrm>
          <a:prstGeom prst="rect">
            <a:avLst/>
          </a:prstGeom>
        </p:spPr>
      </p:pic>
      <p:sp>
        <p:nvSpPr>
          <p:cNvPr id="6" name="TextBox 5"/>
          <p:cNvSpPr txBox="1"/>
          <p:nvPr/>
        </p:nvSpPr>
        <p:spPr>
          <a:xfrm>
            <a:off x="5989320" y="5486400"/>
            <a:ext cx="5440680" cy="320040"/>
          </a:xfrm>
          <a:prstGeom prst="rect">
            <a:avLst/>
          </a:prstGeom>
          <a:noFill/>
        </p:spPr>
        <p:txBody>
          <a:bodyPr wrap="none">
            <a:spAutoFit/>
          </a:bodyPr>
          <a:lstStyle/>
          <a:p>
            <a:pPr algn="ctr"/>
            <a:r>
              <a:rPr sz="1200" i="1">
                <a:solidFill>
                  <a:srgbClr val="6B727A"/>
                </a:solidFill>
                <a:latin typeface="Aptos"/>
              </a:rPr>
              <a:t>Conventional recloser–fuse coordination (R1 and fuse F646)</a:t>
            </a:r>
          </a:p>
        </p:txBody>
      </p:sp>
      <p:sp>
        <p:nvSpPr>
          <p:cNvPr id="7" name="TextBox 6"/>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3/30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1. Introduction: Problem Statement</a:t>
            </a:r>
          </a:p>
        </p:txBody>
      </p:sp>
      <p:sp>
        <p:nvSpPr>
          <p:cNvPr id="4" name="Rounded Rectangle 3"/>
          <p:cNvSpPr/>
          <p:nvPr/>
        </p:nvSpPr>
        <p:spPr>
          <a:xfrm>
            <a:off x="685800" y="1234440"/>
            <a:ext cx="3291840" cy="1691640"/>
          </a:xfrm>
          <a:prstGeom prst="roundRect">
            <a:avLst>
              <a:gd name="adj" fmla="val 8000"/>
            </a:avLst>
          </a:prstGeom>
          <a:solidFill>
            <a:srgbClr val="EEF4F9"/>
          </a:solidFill>
          <a:ln>
            <a:solidFill>
              <a:srgbClr val="9DB4C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a:solidFill>
                  <a:srgbClr val="1B3755"/>
                </a:solidFill>
                <a:latin typeface="Aptos"/>
              </a:rPr>
              <a:t>Without DG</a:t>
            </a:r>
          </a:p>
          <a:p>
            <a:pPr algn="ctr"/>
            <a:r>
              <a:rPr sz="1400">
                <a:solidFill>
                  <a:srgbClr val="262D34"/>
                </a:solidFill>
                <a:latin typeface="Aptos"/>
              </a:rPr>
              <a:t>Fault current flows from the substation to the fault; recloser and fuse see the same current.</a:t>
            </a:r>
          </a:p>
        </p:txBody>
      </p:sp>
      <p:sp>
        <p:nvSpPr>
          <p:cNvPr id="5" name="Rounded Rectangle 4"/>
          <p:cNvSpPr/>
          <p:nvPr/>
        </p:nvSpPr>
        <p:spPr>
          <a:xfrm>
            <a:off x="4251960" y="1234440"/>
            <a:ext cx="3291840" cy="1691640"/>
          </a:xfrm>
          <a:prstGeom prst="roundRect">
            <a:avLst>
              <a:gd name="adj" fmla="val 8000"/>
            </a:avLst>
          </a:prstGeom>
          <a:solidFill>
            <a:srgbClr val="EEF4F9"/>
          </a:solidFill>
          <a:ln>
            <a:solidFill>
              <a:srgbClr val="9DB4C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a:solidFill>
                  <a:srgbClr val="1B3755"/>
                </a:solidFill>
                <a:latin typeface="Aptos"/>
              </a:rPr>
              <a:t>With DG</a:t>
            </a:r>
          </a:p>
          <a:p>
            <a:pPr algn="ctr"/>
            <a:r>
              <a:rPr sz="1400">
                <a:solidFill>
                  <a:srgbClr val="262D34"/>
                </a:solidFill>
                <a:latin typeface="Aptos"/>
              </a:rPr>
              <a:t>The fuse carries grid + DG current; the recloser only the grid share. A mid-line recloser sees reverse current.</a:t>
            </a:r>
          </a:p>
        </p:txBody>
      </p:sp>
      <p:sp>
        <p:nvSpPr>
          <p:cNvPr id="6" name="Rounded Rectangle 5"/>
          <p:cNvSpPr/>
          <p:nvPr/>
        </p:nvSpPr>
        <p:spPr>
          <a:xfrm>
            <a:off x="7818120" y="1234440"/>
            <a:ext cx="3291840" cy="1691640"/>
          </a:xfrm>
          <a:prstGeom prst="roundRect">
            <a:avLst>
              <a:gd name="adj" fmla="val 8000"/>
            </a:avLst>
          </a:prstGeom>
          <a:solidFill>
            <a:srgbClr val="EEF4F9"/>
          </a:solidFill>
          <a:ln>
            <a:solidFill>
              <a:srgbClr val="9DB4CF"/>
            </a:solid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800" b="1">
                <a:solidFill>
                  <a:srgbClr val="C62828"/>
                </a:solidFill>
                <a:latin typeface="Aptos"/>
              </a:rPr>
              <a:t>Consequence</a:t>
            </a:r>
          </a:p>
          <a:p>
            <a:pPr algn="ctr"/>
            <a:r>
              <a:rPr sz="1400">
                <a:solidFill>
                  <a:srgbClr val="262D34"/>
                </a:solidFill>
                <a:latin typeface="Aptos"/>
              </a:rPr>
              <a:t>The fuse can melt before the fast trip: fuse saving is lost.</a:t>
            </a:r>
          </a:p>
        </p:txBody>
      </p:sp>
      <p:sp>
        <p:nvSpPr>
          <p:cNvPr id="7" name="TextBox 6"/>
          <p:cNvSpPr txBox="1"/>
          <p:nvPr/>
        </p:nvSpPr>
        <p:spPr>
          <a:xfrm>
            <a:off x="685800" y="3246120"/>
            <a:ext cx="10424160" cy="2468880"/>
          </a:xfrm>
          <a:prstGeom prst="rect">
            <a:avLst/>
          </a:prstGeom>
          <a:noFill/>
        </p:spPr>
        <p:txBody>
          <a:bodyPr wrap="square">
            <a:spAutoFit/>
          </a:bodyPr>
          <a:lstStyle/>
          <a:p>
            <a:pPr marL="342900" indent="-285750">
              <a:spcAft>
                <a:spcPts val="800"/>
              </a:spcAft>
              <a:buChar char="•"/>
            </a:pPr>
            <a:r>
              <a:rPr sz="1700" b="1">
                <a:solidFill>
                  <a:srgbClr val="262D34"/>
                </a:solidFill>
                <a:latin typeface="Aptos"/>
              </a:rPr>
              <a:t>Problem:</a:t>
            </a:r>
            <a:r>
              <a:rPr sz="1700" b="0">
                <a:solidFill>
                  <a:srgbClr val="262D34"/>
                </a:solidFill>
                <a:latin typeface="Aptos"/>
              </a:rPr>
              <a:t> loss of recloser–fuse coordination when a DG is connected; a single fixed setting does not suit both the forward (grid) and the reverse (DG) fault current.</a:t>
            </a:r>
          </a:p>
          <a:p>
            <a:pPr marL="342900" indent="-285750">
              <a:spcAft>
                <a:spcPts val="800"/>
              </a:spcAft>
              <a:buChar char="•"/>
            </a:pPr>
            <a:r>
              <a:rPr sz="1700" b="1">
                <a:solidFill>
                  <a:srgbClr val="262D34"/>
                </a:solidFill>
                <a:latin typeface="Aptos"/>
              </a:rPr>
              <a:t>Proposed solution:</a:t>
            </a:r>
            <a:r>
              <a:rPr sz="1700" b="0">
                <a:solidFill>
                  <a:srgbClr val="262D34"/>
                </a:solidFill>
                <a:latin typeface="Aptos"/>
              </a:rPr>
              <a:t> a </a:t>
            </a:r>
            <a:r>
              <a:rPr sz="1700" b="1">
                <a:solidFill>
                  <a:srgbClr val="262D34"/>
                </a:solidFill>
                <a:latin typeface="Aptos"/>
              </a:rPr>
              <a:t>Dual-Setting Directional Recloser (DSDR)</a:t>
            </a:r>
            <a:r>
              <a:rPr sz="1700" b="0">
                <a:solidFill>
                  <a:srgbClr val="262D34"/>
                </a:solidFill>
                <a:latin typeface="Aptos"/>
              </a:rPr>
              <a:t> – the mid-line recloser R2 gets independent forward and reverse settings, selected by the direction of the current.</a:t>
            </a:r>
          </a:p>
          <a:p>
            <a:pPr marL="342900" indent="-285750">
              <a:spcAft>
                <a:spcPts val="800"/>
              </a:spcAft>
              <a:buChar char="•"/>
            </a:pPr>
            <a:r>
              <a:rPr sz="1700" b="1">
                <a:solidFill>
                  <a:srgbClr val="262D34"/>
                </a:solidFill>
                <a:latin typeface="Aptos"/>
              </a:rPr>
              <a:t>This project:</a:t>
            </a:r>
            <a:r>
              <a:rPr sz="1700" b="0">
                <a:solidFill>
                  <a:srgbClr val="262D34"/>
                </a:solidFill>
                <a:latin typeface="Aptos"/>
              </a:rPr>
              <a:t> implements and tests the DSDR method on the IEEE 13-node feeder in DIgSILENT PowerFactory with the real characteristics of commercial relays and fuses.</a:t>
            </a:r>
          </a:p>
        </p:txBody>
      </p:sp>
      <p:sp>
        <p:nvSpPr>
          <p:cNvPr id="8" name="TextBox 7"/>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4/30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2. Objectives</a:t>
            </a:r>
          </a:p>
        </p:txBody>
      </p:sp>
      <p:sp>
        <p:nvSpPr>
          <p:cNvPr id="4" name="Rectangle 3"/>
          <p:cNvSpPr/>
          <p:nvPr/>
        </p:nvSpPr>
        <p:spPr>
          <a:xfrm>
            <a:off x="685800" y="1143000"/>
            <a:ext cx="82296" cy="109728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097280"/>
            <a:ext cx="7315200" cy="411480"/>
          </a:xfrm>
          <a:prstGeom prst="rect">
            <a:avLst/>
          </a:prstGeom>
          <a:noFill/>
        </p:spPr>
        <p:txBody>
          <a:bodyPr wrap="none">
            <a:spAutoFit/>
          </a:bodyPr>
          <a:lstStyle/>
          <a:p>
            <a:r>
              <a:rPr sz="2000" b="1">
                <a:solidFill>
                  <a:srgbClr val="1B3755"/>
                </a:solidFill>
                <a:latin typeface="Aptos"/>
              </a:rPr>
              <a:t>General Objective</a:t>
            </a:r>
          </a:p>
        </p:txBody>
      </p:sp>
      <p:sp>
        <p:nvSpPr>
          <p:cNvPr id="6" name="TextBox 5"/>
          <p:cNvSpPr txBox="1"/>
          <p:nvPr/>
        </p:nvSpPr>
        <p:spPr>
          <a:xfrm>
            <a:off x="914400" y="1600200"/>
            <a:ext cx="10241280" cy="731520"/>
          </a:xfrm>
          <a:prstGeom prst="rect">
            <a:avLst/>
          </a:prstGeom>
          <a:noFill/>
        </p:spPr>
        <p:txBody>
          <a:bodyPr wrap="square">
            <a:spAutoFit/>
          </a:bodyPr>
          <a:lstStyle/>
          <a:p>
            <a:pPr>
              <a:spcAft>
                <a:spcPts val="800"/>
              </a:spcAft>
            </a:pPr>
            <a:r>
              <a:rPr sz="1700" b="0">
                <a:solidFill>
                  <a:srgbClr val="262D34"/>
                </a:solidFill>
                <a:latin typeface="Aptos"/>
              </a:rPr>
              <a:t>To build and validate a DIgSILENT PowerFactory implementation of the dual-setting directional recloser (DSDR) coordination method on the IEEE 13-node feeder, with and without distributed generation.</a:t>
            </a:r>
          </a:p>
        </p:txBody>
      </p:sp>
      <p:sp>
        <p:nvSpPr>
          <p:cNvPr id="7" name="Rectangle 6"/>
          <p:cNvSpPr/>
          <p:nvPr/>
        </p:nvSpPr>
        <p:spPr>
          <a:xfrm>
            <a:off x="685800" y="2606040"/>
            <a:ext cx="82296" cy="2697480"/>
          </a:xfrm>
          <a:prstGeom prst="rect">
            <a:avLst/>
          </a:prstGeom>
          <a:solidFill>
            <a:srgbClr val="2F6F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60320"/>
            <a:ext cx="7315200" cy="411480"/>
          </a:xfrm>
          <a:prstGeom prst="rect">
            <a:avLst/>
          </a:prstGeom>
          <a:noFill/>
        </p:spPr>
        <p:txBody>
          <a:bodyPr wrap="none">
            <a:spAutoFit/>
          </a:bodyPr>
          <a:lstStyle/>
          <a:p>
            <a:r>
              <a:rPr sz="2000" b="1">
                <a:solidFill>
                  <a:srgbClr val="2F6FB3"/>
                </a:solidFill>
                <a:latin typeface="Aptos"/>
              </a:rPr>
              <a:t>Specific Objectives</a:t>
            </a:r>
          </a:p>
        </p:txBody>
      </p:sp>
      <p:sp>
        <p:nvSpPr>
          <p:cNvPr id="9" name="TextBox 8"/>
          <p:cNvSpPr txBox="1"/>
          <p:nvPr/>
        </p:nvSpPr>
        <p:spPr>
          <a:xfrm>
            <a:off x="914400" y="3063240"/>
            <a:ext cx="10241280" cy="2834640"/>
          </a:xfrm>
          <a:prstGeom prst="rect">
            <a:avLst/>
          </a:prstGeom>
          <a:noFill/>
        </p:spPr>
        <p:txBody>
          <a:bodyPr wrap="square">
            <a:spAutoFit/>
          </a:bodyPr>
          <a:lstStyle/>
          <a:p>
            <a:pPr>
              <a:spcAft>
                <a:spcPts val="500"/>
              </a:spcAft>
            </a:pPr>
            <a:r>
              <a:rPr sz="1600" b="1">
                <a:solidFill>
                  <a:srgbClr val="2F6FB3"/>
                </a:solidFill>
                <a:latin typeface="Aptos"/>
              </a:rPr>
              <a:t>1.  </a:t>
            </a:r>
            <a:r>
              <a:rPr sz="1600">
                <a:solidFill>
                  <a:srgbClr val="262D34"/>
                </a:solidFill>
                <a:latin typeface="Aptos"/>
              </a:rPr>
              <a:t>Build and verify the IEEE 13-node feeder with its recloser and fuse protection.</a:t>
            </a:r>
          </a:p>
          <a:p>
            <a:pPr>
              <a:spcAft>
                <a:spcPts val="500"/>
              </a:spcAft>
            </a:pPr>
            <a:r>
              <a:rPr sz="1600" b="1">
                <a:solidFill>
                  <a:srgbClr val="2F6FB3"/>
                </a:solidFill>
                <a:latin typeface="Aptos"/>
              </a:rPr>
              <a:t>2.  </a:t>
            </a:r>
            <a:r>
              <a:rPr sz="1600">
                <a:solidFill>
                  <a:srgbClr val="262D34"/>
                </a:solidFill>
                <a:latin typeface="Aptos"/>
              </a:rPr>
              <a:t>Perform unbalanced load-flow and short-circuit studies for LG, LL, LLG and LLL faults.</a:t>
            </a:r>
          </a:p>
          <a:p>
            <a:pPr>
              <a:spcAft>
                <a:spcPts val="500"/>
              </a:spcAft>
            </a:pPr>
            <a:r>
              <a:rPr sz="1600" b="1">
                <a:solidFill>
                  <a:srgbClr val="2F6FB3"/>
                </a:solidFill>
                <a:latin typeface="Aptos"/>
              </a:rPr>
              <a:t>3.  </a:t>
            </a:r>
            <a:r>
              <a:rPr sz="1600">
                <a:solidFill>
                  <a:srgbClr val="262D34"/>
                </a:solidFill>
                <a:latin typeface="Aptos"/>
              </a:rPr>
              <a:t>Calculate the recloser pickups, time dials and fuse coefficients.</a:t>
            </a:r>
          </a:p>
          <a:p>
            <a:pPr>
              <a:spcAft>
                <a:spcPts val="500"/>
              </a:spcAft>
            </a:pPr>
            <a:r>
              <a:rPr sz="1600" b="1">
                <a:solidFill>
                  <a:srgbClr val="2F6FB3"/>
                </a:solidFill>
                <a:latin typeface="Aptos"/>
              </a:rPr>
              <a:t>4.  </a:t>
            </a:r>
            <a:r>
              <a:rPr sz="1600">
                <a:solidFill>
                  <a:srgbClr val="262D34"/>
                </a:solidFill>
                <a:latin typeface="Aptos"/>
              </a:rPr>
              <a:t>Establish the coordination without DG, then with a 4.05 MVA synchronous DG at node 692.</a:t>
            </a:r>
          </a:p>
          <a:p>
            <a:pPr>
              <a:spcAft>
                <a:spcPts val="500"/>
              </a:spcAft>
            </a:pPr>
            <a:r>
              <a:rPr sz="1600" b="1">
                <a:solidFill>
                  <a:srgbClr val="2F6FB3"/>
                </a:solidFill>
                <a:latin typeface="Aptos"/>
              </a:rPr>
              <a:t>5.  </a:t>
            </a:r>
            <a:r>
              <a:rPr sz="1600">
                <a:solidFill>
                  <a:srgbClr val="262D34"/>
                </a:solidFill>
                <a:latin typeface="Aptos"/>
              </a:rPr>
              <a:t>Design the forward and reverse settings of R2 as a DSDR and check the coordination again.</a:t>
            </a:r>
          </a:p>
          <a:p>
            <a:pPr>
              <a:spcAft>
                <a:spcPts val="500"/>
              </a:spcAft>
            </a:pPr>
            <a:r>
              <a:rPr sz="1600" b="1">
                <a:solidFill>
                  <a:srgbClr val="2F6FB3"/>
                </a:solidFill>
                <a:latin typeface="Aptos"/>
              </a:rPr>
              <a:t>6.  </a:t>
            </a:r>
            <a:r>
              <a:rPr sz="1600">
                <a:solidFill>
                  <a:srgbClr val="262D34"/>
                </a:solidFill>
                <a:latin typeface="Aptos"/>
              </a:rPr>
              <a:t>Verify the reclosing sequence in the time domain (EMT simulation).</a:t>
            </a:r>
          </a:p>
          <a:p>
            <a:pPr>
              <a:spcAft>
                <a:spcPts val="500"/>
              </a:spcAft>
            </a:pPr>
            <a:r>
              <a:rPr sz="1600" b="1">
                <a:solidFill>
                  <a:srgbClr val="2F6FB3"/>
                </a:solidFill>
                <a:latin typeface="Aptos"/>
              </a:rPr>
              <a:t>7.  </a:t>
            </a:r>
            <a:r>
              <a:rPr sz="1600">
                <a:solidFill>
                  <a:srgbClr val="262D34"/>
                </a:solidFill>
                <a:latin typeface="Aptos"/>
              </a:rPr>
              <a:t>Study the effect of DG penetration from 0 to 100 %.</a:t>
            </a:r>
          </a:p>
        </p:txBody>
      </p:sp>
      <p:sp>
        <p:nvSpPr>
          <p:cNvPr id="10" name="TextBox 9"/>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5/30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3. Scope and Limitations</a:t>
            </a:r>
          </a:p>
        </p:txBody>
      </p:sp>
      <p:sp>
        <p:nvSpPr>
          <p:cNvPr id="4" name="TextBox 3"/>
          <p:cNvSpPr txBox="1"/>
          <p:nvPr/>
        </p:nvSpPr>
        <p:spPr>
          <a:xfrm>
            <a:off x="685800" y="1143000"/>
            <a:ext cx="5029200" cy="457200"/>
          </a:xfrm>
          <a:prstGeom prst="rect">
            <a:avLst/>
          </a:prstGeom>
          <a:noFill/>
        </p:spPr>
        <p:txBody>
          <a:bodyPr wrap="square">
            <a:spAutoFit/>
          </a:bodyPr>
          <a:lstStyle/>
          <a:p>
            <a:pPr>
              <a:spcAft>
                <a:spcPts val="800"/>
              </a:spcAft>
            </a:pPr>
            <a:r>
              <a:rPr sz="2000" b="0">
                <a:solidFill>
                  <a:srgbClr val="1B3755"/>
                </a:solidFill>
                <a:latin typeface="Aptos"/>
              </a:rPr>
              <a:t>Scope</a:t>
            </a:r>
          </a:p>
        </p:txBody>
      </p:sp>
      <p:sp>
        <p:nvSpPr>
          <p:cNvPr id="5" name="TextBox 4"/>
          <p:cNvSpPr txBox="1"/>
          <p:nvPr/>
        </p:nvSpPr>
        <p:spPr>
          <a:xfrm>
            <a:off x="685800" y="1645920"/>
            <a:ext cx="5029200" cy="4023360"/>
          </a:xfrm>
          <a:prstGeom prst="rect">
            <a:avLst/>
          </a:prstGeom>
          <a:noFill/>
        </p:spPr>
        <p:txBody>
          <a:bodyPr wrap="square">
            <a:spAutoFit/>
          </a:bodyPr>
          <a:lstStyle/>
          <a:p>
            <a:pPr marL="342900" indent="-285750">
              <a:spcAft>
                <a:spcPts val="600"/>
              </a:spcAft>
              <a:buChar char="•"/>
            </a:pPr>
            <a:r>
              <a:rPr sz="1600" b="0">
                <a:solidFill>
                  <a:srgbClr val="262D34"/>
                </a:solidFill>
                <a:latin typeface="Aptos"/>
              </a:rPr>
              <a:t>IEEE 13-node feeder, 4.16 kV, unbalanced.</a:t>
            </a:r>
          </a:p>
          <a:p>
            <a:pPr marL="342900" indent="-285750">
              <a:spcAft>
                <a:spcPts val="600"/>
              </a:spcAft>
              <a:buChar char="•"/>
            </a:pPr>
            <a:r>
              <a:rPr sz="1600" b="0">
                <a:solidFill>
                  <a:srgbClr val="262D34"/>
                </a:solidFill>
                <a:latin typeface="Aptos"/>
              </a:rPr>
              <a:t>LG, LL, LLG and LLL faults at 12 locations: 39 node/fault-type cells.</a:t>
            </a:r>
          </a:p>
          <a:p>
            <a:pPr marL="342900" indent="-285750">
              <a:spcAft>
                <a:spcPts val="600"/>
              </a:spcAft>
              <a:buChar char="•"/>
            </a:pPr>
            <a:r>
              <a:rPr sz="1600" b="0">
                <a:solidFill>
                  <a:srgbClr val="262D34"/>
                </a:solidFill>
                <a:latin typeface="Aptos"/>
              </a:rPr>
              <a:t>Pickup, time-dial and fuse coordination calculations.</a:t>
            </a:r>
          </a:p>
          <a:p>
            <a:pPr marL="342900" indent="-285750">
              <a:spcAft>
                <a:spcPts val="600"/>
              </a:spcAft>
              <a:buChar char="•"/>
            </a:pPr>
            <a:r>
              <a:rPr sz="1600" b="0">
                <a:solidFill>
                  <a:srgbClr val="262D34"/>
                </a:solidFill>
                <a:latin typeface="Aptos"/>
              </a:rPr>
              <a:t>DSDR forward and reverse settings; coordination with and without the DSDR.</a:t>
            </a:r>
          </a:p>
          <a:p>
            <a:pPr marL="342900" indent="-285750">
              <a:spcAft>
                <a:spcPts val="600"/>
              </a:spcAft>
              <a:buChar char="•"/>
            </a:pPr>
            <a:r>
              <a:rPr sz="1600" b="0">
                <a:solidFill>
                  <a:srgbClr val="262D34"/>
                </a:solidFill>
                <a:latin typeface="Aptos"/>
              </a:rPr>
              <a:t>One EMT simulation of the reclosing sequence; DG penetration 0–100 %.</a:t>
            </a:r>
          </a:p>
        </p:txBody>
      </p:sp>
      <p:sp>
        <p:nvSpPr>
          <p:cNvPr id="6" name="TextBox 5"/>
          <p:cNvSpPr txBox="1"/>
          <p:nvPr/>
        </p:nvSpPr>
        <p:spPr>
          <a:xfrm>
            <a:off x="5989320" y="1143000"/>
            <a:ext cx="5120640" cy="457200"/>
          </a:xfrm>
          <a:prstGeom prst="rect">
            <a:avLst/>
          </a:prstGeom>
          <a:noFill/>
        </p:spPr>
        <p:txBody>
          <a:bodyPr wrap="square">
            <a:spAutoFit/>
          </a:bodyPr>
          <a:lstStyle/>
          <a:p>
            <a:pPr>
              <a:spcAft>
                <a:spcPts val="800"/>
              </a:spcAft>
            </a:pPr>
            <a:r>
              <a:rPr sz="2000" b="0">
                <a:solidFill>
                  <a:srgbClr val="1B3755"/>
                </a:solidFill>
                <a:latin typeface="Aptos"/>
              </a:rPr>
              <a:t>Limitations</a:t>
            </a:r>
          </a:p>
        </p:txBody>
      </p:sp>
      <p:sp>
        <p:nvSpPr>
          <p:cNvPr id="7" name="TextBox 6"/>
          <p:cNvSpPr txBox="1"/>
          <p:nvPr/>
        </p:nvSpPr>
        <p:spPr>
          <a:xfrm>
            <a:off x="5989320" y="1645920"/>
            <a:ext cx="5120640" cy="4023360"/>
          </a:xfrm>
          <a:prstGeom prst="rect">
            <a:avLst/>
          </a:prstGeom>
          <a:noFill/>
        </p:spPr>
        <p:txBody>
          <a:bodyPr wrap="square">
            <a:spAutoFit/>
          </a:bodyPr>
          <a:lstStyle/>
          <a:p>
            <a:pPr marL="342900" indent="-285750">
              <a:spcAft>
                <a:spcPts val="600"/>
              </a:spcAft>
              <a:buChar char="•"/>
            </a:pPr>
            <a:r>
              <a:rPr sz="1600" b="0">
                <a:solidFill>
                  <a:srgbClr val="262D34"/>
                </a:solidFill>
                <a:latin typeface="Aptos"/>
              </a:rPr>
              <a:t>R2 settings, fuse sizes and fault type of each operating-time case are not published; they were chosen and documented.</a:t>
            </a:r>
          </a:p>
          <a:p>
            <a:pPr marL="342900" indent="-285750">
              <a:spcAft>
                <a:spcPts val="600"/>
              </a:spcAft>
              <a:buChar char="•"/>
            </a:pPr>
            <a:r>
              <a:rPr sz="1600" b="0">
                <a:solidFill>
                  <a:srgbClr val="262D34"/>
                </a:solidFill>
                <a:latin typeface="Aptos"/>
              </a:rPr>
              <a:t>The CDG34 library relay is not directional: two relay units, direction from the fault location.</a:t>
            </a:r>
          </a:p>
          <a:p>
            <a:pPr marL="342900" indent="-285750">
              <a:spcAft>
                <a:spcPts val="600"/>
              </a:spcAft>
              <a:buChar char="•"/>
            </a:pPr>
            <a:r>
              <a:rPr sz="1600" b="0">
                <a:solidFill>
                  <a:srgbClr val="262D34"/>
                </a:solidFill>
                <a:latin typeface="Aptos"/>
              </a:rPr>
              <a:t>Zero-margin criterion (fuse must not start to melt before the fast trip).</a:t>
            </a:r>
          </a:p>
          <a:p>
            <a:pPr marL="342900" indent="-285750">
              <a:spcAft>
                <a:spcPts val="600"/>
              </a:spcAft>
              <a:buChar char="•"/>
            </a:pPr>
            <a:r>
              <a:rPr sz="1600" b="0">
                <a:solidFill>
                  <a:srgbClr val="262D34"/>
                </a:solidFill>
                <a:latin typeface="Aptos"/>
              </a:rPr>
              <a:t>One DG location (692); IEEE 34-node feeder not modelled.</a:t>
            </a:r>
          </a:p>
        </p:txBody>
      </p:sp>
      <p:sp>
        <p:nvSpPr>
          <p:cNvPr id="8" name="TextBox 7"/>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6/30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4. Methodology: Coordination Method</a:t>
            </a:r>
          </a:p>
        </p:txBody>
      </p:sp>
      <p:sp>
        <p:nvSpPr>
          <p:cNvPr id="4" name="TextBox 3"/>
          <p:cNvSpPr txBox="1"/>
          <p:nvPr/>
        </p:nvSpPr>
        <p:spPr>
          <a:xfrm>
            <a:off x="685800" y="1188720"/>
            <a:ext cx="4846320" cy="4480560"/>
          </a:xfrm>
          <a:prstGeom prst="rect">
            <a:avLst/>
          </a:prstGeom>
          <a:noFill/>
        </p:spPr>
        <p:txBody>
          <a:bodyPr wrap="square">
            <a:spAutoFit/>
          </a:bodyPr>
          <a:lstStyle/>
          <a:p>
            <a:pPr marL="342900" indent="-285750">
              <a:spcAft>
                <a:spcPts val="700"/>
              </a:spcAft>
              <a:buChar char="•"/>
            </a:pPr>
            <a:r>
              <a:rPr sz="1600" b="1">
                <a:solidFill>
                  <a:srgbClr val="262D34"/>
                </a:solidFill>
                <a:latin typeface="Aptos"/>
              </a:rPr>
              <a:t>A.</a:t>
            </a:r>
            <a:r>
              <a:rPr sz="1600" b="0">
                <a:solidFill>
                  <a:srgbClr val="262D34"/>
                </a:solidFill>
                <a:latin typeface="Aptos"/>
              </a:rPr>
              <a:t> Conventional scheme without DG: pickups by I_p = OLF × I_nom (OLF = 1.25), fuses sized and checked.</a:t>
            </a:r>
          </a:p>
          <a:p>
            <a:pPr marL="342900" indent="-285750">
              <a:spcAft>
                <a:spcPts val="700"/>
              </a:spcAft>
              <a:buChar char="•"/>
            </a:pPr>
            <a:r>
              <a:rPr sz="1600" b="1">
                <a:solidFill>
                  <a:srgbClr val="262D34"/>
                </a:solidFill>
                <a:latin typeface="Aptos"/>
              </a:rPr>
              <a:t>B.</a:t>
            </a:r>
            <a:r>
              <a:rPr sz="1600" b="0">
                <a:solidFill>
                  <a:srgbClr val="262D34"/>
                </a:solidFill>
                <a:latin typeface="Aptos"/>
              </a:rPr>
              <a:t> Same settings with the DG connected: classification of all 39 cells.</a:t>
            </a:r>
          </a:p>
          <a:p>
            <a:pPr marL="342900" indent="-285750">
              <a:spcAft>
                <a:spcPts val="700"/>
              </a:spcAft>
              <a:buChar char="•"/>
            </a:pPr>
            <a:r>
              <a:rPr sz="1600" b="1">
                <a:solidFill>
                  <a:srgbClr val="262D34"/>
                </a:solidFill>
                <a:latin typeface="Aptos"/>
              </a:rPr>
              <a:t>C.</a:t>
            </a:r>
            <a:r>
              <a:rPr sz="1600" b="0">
                <a:solidFill>
                  <a:srgbClr val="262D34"/>
                </a:solidFill>
                <a:latin typeface="Aptos"/>
              </a:rPr>
              <a:t> R2 as a DSDR: reverse pickup from the reverse load current, forward and reverse dials.</a:t>
            </a:r>
          </a:p>
          <a:p>
            <a:pPr marL="342900" indent="-285750">
              <a:spcAft>
                <a:spcPts val="700"/>
              </a:spcAft>
              <a:buChar char="•"/>
            </a:pPr>
            <a:r>
              <a:rPr sz="1600" b="0">
                <a:solidFill>
                  <a:srgbClr val="262D34"/>
                </a:solidFill>
                <a:latin typeface="Aptos"/>
              </a:rPr>
              <a:t>If coordination is lost: revise the time dial; at the dial limit, upgrade the fuse size.</a:t>
            </a:r>
          </a:p>
          <a:p>
            <a:pPr marL="342900" indent="-285750">
              <a:spcAft>
                <a:spcPts val="700"/>
              </a:spcAft>
              <a:buChar char="•"/>
            </a:pPr>
            <a:r>
              <a:rPr sz="1600" b="0">
                <a:solidFill>
                  <a:srgbClr val="262D34"/>
                </a:solidFill>
                <a:latin typeface="Aptos"/>
              </a:rPr>
              <a:t>Check: fuse melting time must exceed the recloser fast time, fuse clearing time below the delayed time.</a:t>
            </a:r>
          </a:p>
        </p:txBody>
      </p:sp>
      <p:pic>
        <p:nvPicPr>
          <p:cNvPr id="5" name="Picture 4" descr="flowchart.png"/>
          <p:cNvPicPr>
            <a:picLocks noChangeAspect="1"/>
          </p:cNvPicPr>
          <p:nvPr/>
        </p:nvPicPr>
        <p:blipFill>
          <a:blip r:embed="rId2"/>
          <a:stretch>
            <a:fillRect/>
          </a:stretch>
        </p:blipFill>
        <p:spPr>
          <a:xfrm>
            <a:off x="6793454" y="1005840"/>
            <a:ext cx="3420931" cy="4846320"/>
          </a:xfrm>
          <a:prstGeom prst="rect">
            <a:avLst/>
          </a:prstGeom>
        </p:spPr>
      </p:pic>
      <p:sp>
        <p:nvSpPr>
          <p:cNvPr id="6" name="TextBox 5"/>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7/30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4. Methodology: Mathematical Formulation</a:t>
            </a:r>
          </a:p>
        </p:txBody>
      </p:sp>
      <p:pic>
        <p:nvPicPr>
          <p:cNvPr id="4" name="Picture 3" descr="DSDR_equations.png"/>
          <p:cNvPicPr>
            <a:picLocks noChangeAspect="1"/>
          </p:cNvPicPr>
          <p:nvPr/>
        </p:nvPicPr>
        <p:blipFill>
          <a:blip r:embed="rId2"/>
          <a:stretch>
            <a:fillRect/>
          </a:stretch>
        </p:blipFill>
        <p:spPr>
          <a:xfrm>
            <a:off x="328889" y="914399"/>
            <a:ext cx="11503741" cy="5486400"/>
          </a:xfrm>
          <a:prstGeom prst="rect">
            <a:avLst/>
          </a:prstGeom>
        </p:spPr>
      </p:pic>
      <p:sp>
        <p:nvSpPr>
          <p:cNvPr id="5" name="TextBox 4"/>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8/30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4. Methodology: Test System in PowerFactory</a:t>
            </a:r>
          </a:p>
        </p:txBody>
      </p:sp>
      <p:pic>
        <p:nvPicPr>
          <p:cNvPr id="4" name="Picture 3" descr="sld.png"/>
          <p:cNvPicPr>
            <a:picLocks noChangeAspect="1"/>
          </p:cNvPicPr>
          <p:nvPr/>
        </p:nvPicPr>
        <p:blipFill>
          <a:blip r:embed="rId2"/>
          <a:stretch>
            <a:fillRect/>
          </a:stretch>
        </p:blipFill>
        <p:spPr>
          <a:xfrm>
            <a:off x="365759" y="1592248"/>
            <a:ext cx="6035040" cy="3673502"/>
          </a:xfrm>
          <a:prstGeom prst="rect">
            <a:avLst/>
          </a:prstGeom>
        </p:spPr>
      </p:pic>
      <p:sp>
        <p:nvSpPr>
          <p:cNvPr id="5" name="TextBox 4"/>
          <p:cNvSpPr txBox="1"/>
          <p:nvPr/>
        </p:nvSpPr>
        <p:spPr>
          <a:xfrm>
            <a:off x="6583680" y="1143000"/>
            <a:ext cx="4480560" cy="4572000"/>
          </a:xfrm>
          <a:prstGeom prst="rect">
            <a:avLst/>
          </a:prstGeom>
          <a:noFill/>
        </p:spPr>
        <p:txBody>
          <a:bodyPr wrap="square">
            <a:spAutoFit/>
          </a:bodyPr>
          <a:lstStyle/>
          <a:p>
            <a:pPr marL="342900" indent="-285750">
              <a:spcAft>
                <a:spcPts val="600"/>
              </a:spcAft>
              <a:buChar char="•"/>
            </a:pPr>
            <a:r>
              <a:rPr sz="1500" b="0">
                <a:solidFill>
                  <a:srgbClr val="262D34"/>
                </a:solidFill>
                <a:latin typeface="Aptos"/>
              </a:rPr>
              <a:t>IEEE 13-node feeder, 4.16 kV, 115 kV grid via 5 MVA transformer.</a:t>
            </a:r>
          </a:p>
          <a:p>
            <a:pPr marL="342900" indent="-285750">
              <a:spcAft>
                <a:spcPts val="600"/>
              </a:spcAft>
              <a:buChar char="•"/>
            </a:pPr>
            <a:r>
              <a:rPr sz="1500" b="1">
                <a:solidFill>
                  <a:srgbClr val="262D34"/>
                </a:solidFill>
                <a:latin typeface="Aptos"/>
              </a:rPr>
              <a:t>DG:</a:t>
            </a:r>
            <a:r>
              <a:rPr sz="1500" b="0">
                <a:solidFill>
                  <a:srgbClr val="262D34"/>
                </a:solidFill>
                <a:latin typeface="Aptos"/>
              </a:rPr>
              <a:t> 4.05 MVA synchronous machine at node 692, 0.69/4.16 kV transformer.</a:t>
            </a:r>
          </a:p>
          <a:p>
            <a:pPr marL="342900" indent="-285750">
              <a:spcAft>
                <a:spcPts val="600"/>
              </a:spcAft>
              <a:buChar char="•"/>
            </a:pPr>
            <a:r>
              <a:rPr sz="1500" b="1">
                <a:solidFill>
                  <a:srgbClr val="262D34"/>
                </a:solidFill>
                <a:latin typeface="Aptos"/>
              </a:rPr>
              <a:t>R1:</a:t>
            </a:r>
            <a:r>
              <a:rPr sz="1500" b="0">
                <a:solidFill>
                  <a:srgbClr val="262D34"/>
                </a:solidFill>
                <a:latin typeface="Aptos"/>
              </a:rPr>
              <a:t> GE IAC77B801A at the feeder head (RG60–632).</a:t>
            </a:r>
          </a:p>
          <a:p>
            <a:pPr marL="342900" indent="-285750">
              <a:spcAft>
                <a:spcPts val="600"/>
              </a:spcAft>
              <a:buChar char="•"/>
            </a:pPr>
            <a:r>
              <a:rPr sz="1500" b="1">
                <a:solidFill>
                  <a:srgbClr val="262D34"/>
                </a:solidFill>
                <a:latin typeface="Aptos"/>
              </a:rPr>
              <a:t>R2:</a:t>
            </a:r>
            <a:r>
              <a:rPr sz="1500" b="0">
                <a:solidFill>
                  <a:srgbClr val="262D34"/>
                </a:solidFill>
                <a:latin typeface="Aptos"/>
              </a:rPr>
              <a:t> CDG34 on line 632–671 (the DSDR).</a:t>
            </a:r>
          </a:p>
          <a:p>
            <a:pPr marL="342900" indent="-285750">
              <a:spcAft>
                <a:spcPts val="600"/>
              </a:spcAft>
              <a:buChar char="•"/>
            </a:pPr>
            <a:r>
              <a:rPr sz="1500" b="1">
                <a:solidFill>
                  <a:srgbClr val="262D34"/>
                </a:solidFill>
                <a:latin typeface="Aptos"/>
              </a:rPr>
              <a:t>Fuses:</a:t>
            </a:r>
            <a:r>
              <a:rPr sz="1500" b="0">
                <a:solidFill>
                  <a:srgbClr val="262D34"/>
                </a:solidFill>
                <a:latin typeface="Aptos"/>
              </a:rPr>
              <a:t> A055C (E-rated) on the laterals.</a:t>
            </a:r>
          </a:p>
          <a:p>
            <a:pPr marL="342900" indent="-285750">
              <a:spcAft>
                <a:spcPts val="600"/>
              </a:spcAft>
              <a:buChar char="•"/>
            </a:pPr>
            <a:r>
              <a:rPr sz="1500" b="0">
                <a:solidFill>
                  <a:srgbClr val="262D34"/>
                </a:solidFill>
                <a:latin typeface="Aptos"/>
              </a:rPr>
              <a:t>Unbalanced load flow, short-circuit and EMT studies in DIgSILENT PowerFactory 2021.</a:t>
            </a:r>
          </a:p>
        </p:txBody>
      </p:sp>
      <p:sp>
        <p:nvSpPr>
          <p:cNvPr id="6" name="TextBox 5"/>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9/30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4. Methodology: Parameters of the Synchronous DG</a:t>
            </a:r>
          </a:p>
        </p:txBody>
      </p:sp>
      <p:graphicFrame>
        <p:nvGraphicFramePr>
          <p:cNvPr id="4" name="Table 3"/>
          <p:cNvGraphicFramePr>
            <a:graphicFrameLocks noGrp="1"/>
          </p:cNvGraphicFramePr>
          <p:nvPr/>
        </p:nvGraphicFramePr>
        <p:xfrm>
          <a:off x="457200" y="1143000"/>
          <a:ext cx="5486400" cy="3840480"/>
        </p:xfrm>
        <a:graphic>
          <a:graphicData uri="http://schemas.openxmlformats.org/drawingml/2006/table">
            <a:tbl>
              <a:tblPr firstRow="0" bandRow="0">
                <a:tableStyleId>{5940675A-B579-460E-94D1-54222C63F5DA}</a:tableStyleId>
              </a:tblPr>
              <a:tblGrid>
                <a:gridCol w="3108960"/>
                <a:gridCol w="1005840"/>
                <a:gridCol w="1371600"/>
              </a:tblGrid>
              <a:tr h="384048">
                <a:tc>
                  <a:txBody>
                    <a:bodyPr wrap="square"/>
                    <a:lstStyle/>
                    <a:p>
                      <a:pPr algn="l"/>
                      <a:r>
                        <a:rPr sz="1200" b="1">
                          <a:solidFill>
                            <a:srgbClr val="1B3755"/>
                          </a:solidFill>
                          <a:latin typeface="Aptos"/>
                        </a:rPr>
                        <a:t>Parameter</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1">
                          <a:solidFill>
                            <a:srgbClr val="1B3755"/>
                          </a:solidFill>
                          <a:latin typeface="Aptos"/>
                        </a:rPr>
                        <a:t>Symbol</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1">
                          <a:solidFill>
                            <a:srgbClr val="1B3755"/>
                          </a:solidFill>
                          <a:latin typeface="Aptos"/>
                        </a:rPr>
                        <a:t>Value</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84048">
                <a:tc>
                  <a:txBody>
                    <a:bodyPr wrap="square"/>
                    <a:lstStyle/>
                    <a:p>
                      <a:pPr algn="l"/>
                      <a:r>
                        <a:rPr sz="1200" b="0">
                          <a:solidFill>
                            <a:srgbClr val="262D34"/>
                          </a:solidFill>
                          <a:latin typeface="Aptos"/>
                        </a:rPr>
                        <a:t>Leakage reactance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Xl</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0.05 pu</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84048">
                <a:tc>
                  <a:txBody>
                    <a:bodyPr wrap="square"/>
                    <a:lstStyle/>
                    <a:p>
                      <a:pPr algn="l"/>
                      <a:r>
                        <a:rPr sz="1200" b="0">
                          <a:solidFill>
                            <a:srgbClr val="262D34"/>
                          </a:solidFill>
                          <a:latin typeface="Aptos"/>
                        </a:rPr>
                        <a:t>Stator resistance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Ra</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0.0014 pu</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84048">
                <a:tc>
                  <a:txBody>
                    <a:bodyPr wrap="square"/>
                    <a:lstStyle/>
                    <a:p>
                      <a:pPr algn="l"/>
                      <a:r>
                        <a:rPr sz="1200" b="0">
                          <a:solidFill>
                            <a:srgbClr val="262D34"/>
                          </a:solidFill>
                          <a:latin typeface="Aptos"/>
                        </a:rPr>
                        <a:t>d-axis synchronous reactance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Xd</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1.4 pu</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84048">
                <a:tc>
                  <a:txBody>
                    <a:bodyPr wrap="square"/>
                    <a:lstStyle/>
                    <a:p>
                      <a:pPr algn="l"/>
                      <a:r>
                        <a:rPr sz="1200" b="0">
                          <a:solidFill>
                            <a:srgbClr val="262D34"/>
                          </a:solidFill>
                          <a:latin typeface="Aptos"/>
                        </a:rPr>
                        <a:t>d-axis transient reactance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X'd</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0.231 pu</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84048">
                <a:tc>
                  <a:txBody>
                    <a:bodyPr wrap="square"/>
                    <a:lstStyle/>
                    <a:p>
                      <a:pPr algn="l"/>
                      <a:r>
                        <a:rPr sz="1200" b="0">
                          <a:solidFill>
                            <a:srgbClr val="262D34"/>
                          </a:solidFill>
                          <a:latin typeface="Aptos"/>
                        </a:rPr>
                        <a:t>d-axis subtransient reactance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X''d</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0.118 pu</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84048">
                <a:tc>
                  <a:txBody>
                    <a:bodyPr wrap="square"/>
                    <a:lstStyle/>
                    <a:p>
                      <a:pPr algn="l"/>
                      <a:r>
                        <a:rPr sz="1200" b="0">
                          <a:solidFill>
                            <a:srgbClr val="262D34"/>
                          </a:solidFill>
                          <a:latin typeface="Aptos"/>
                        </a:rPr>
                        <a:t>d-axis transient OC time const.</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T'd0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5.5 s</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84048">
                <a:tc>
                  <a:txBody>
                    <a:bodyPr wrap="square"/>
                    <a:lstStyle/>
                    <a:p>
                      <a:pPr algn="l"/>
                      <a:r>
                        <a:rPr sz="1200" b="0">
                          <a:solidFill>
                            <a:srgbClr val="262D34"/>
                          </a:solidFill>
                          <a:latin typeface="Aptos"/>
                        </a:rPr>
                        <a:t>d-axis subtransient OC time const.</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T''d0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0.05 s</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84048">
                <a:tc>
                  <a:txBody>
                    <a:bodyPr wrap="square"/>
                    <a:lstStyle/>
                    <a:p>
                      <a:pPr algn="l"/>
                      <a:r>
                        <a:rPr sz="1200" b="0">
                          <a:solidFill>
                            <a:srgbClr val="262D34"/>
                          </a:solidFill>
                          <a:latin typeface="Aptos"/>
                        </a:rPr>
                        <a:t>q-axis synchronous reactance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Xq</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1.372 pu</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84048">
                <a:tc>
                  <a:txBody>
                    <a:bodyPr wrap="square"/>
                    <a:lstStyle/>
                    <a:p>
                      <a:pPr algn="l"/>
                      <a:r>
                        <a:rPr sz="1200" b="0">
                          <a:solidFill>
                            <a:srgbClr val="262D34"/>
                          </a:solidFill>
                          <a:latin typeface="Aptos"/>
                        </a:rPr>
                        <a:t>q-axis transient reactance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X'q</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0.8 pu</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bl>
          </a:graphicData>
        </a:graphic>
      </p:graphicFrame>
      <p:graphicFrame>
        <p:nvGraphicFramePr>
          <p:cNvPr id="5" name="Table 4"/>
          <p:cNvGraphicFramePr>
            <a:graphicFrameLocks noGrp="1"/>
          </p:cNvGraphicFramePr>
          <p:nvPr/>
        </p:nvGraphicFramePr>
        <p:xfrm>
          <a:off x="6263640" y="1143000"/>
          <a:ext cx="5486400" cy="3840480"/>
        </p:xfrm>
        <a:graphic>
          <a:graphicData uri="http://schemas.openxmlformats.org/drawingml/2006/table">
            <a:tbl>
              <a:tblPr firstRow="0" bandRow="0">
                <a:tableStyleId>{5940675A-B579-460E-94D1-54222C63F5DA}</a:tableStyleId>
              </a:tblPr>
              <a:tblGrid>
                <a:gridCol w="3108960"/>
                <a:gridCol w="1005840"/>
                <a:gridCol w="1371600"/>
              </a:tblGrid>
              <a:tr h="384048">
                <a:tc>
                  <a:txBody>
                    <a:bodyPr wrap="square"/>
                    <a:lstStyle/>
                    <a:p>
                      <a:pPr algn="l"/>
                      <a:r>
                        <a:rPr sz="1200" b="1">
                          <a:solidFill>
                            <a:srgbClr val="1B3755"/>
                          </a:solidFill>
                          <a:latin typeface="Aptos"/>
                        </a:rPr>
                        <a:t>Parameter</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1">
                          <a:solidFill>
                            <a:srgbClr val="1B3755"/>
                          </a:solidFill>
                          <a:latin typeface="Aptos"/>
                        </a:rPr>
                        <a:t>Symbol</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1">
                          <a:solidFill>
                            <a:srgbClr val="1B3755"/>
                          </a:solidFill>
                          <a:latin typeface="Aptos"/>
                        </a:rPr>
                        <a:t>Value</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84048">
                <a:tc>
                  <a:txBody>
                    <a:bodyPr wrap="square"/>
                    <a:lstStyle/>
                    <a:p>
                      <a:pPr algn="l"/>
                      <a:r>
                        <a:rPr sz="1200" b="0">
                          <a:solidFill>
                            <a:srgbClr val="262D34"/>
                          </a:solidFill>
                          <a:latin typeface="Aptos"/>
                        </a:rPr>
                        <a:t>q-axis subtransient reactance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X''q</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0.118 pu</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84048">
                <a:tc>
                  <a:txBody>
                    <a:bodyPr wrap="square"/>
                    <a:lstStyle/>
                    <a:p>
                      <a:pPr algn="l"/>
                      <a:r>
                        <a:rPr sz="1200" b="0">
                          <a:solidFill>
                            <a:srgbClr val="262D34"/>
                          </a:solidFill>
                          <a:latin typeface="Aptos"/>
                        </a:rPr>
                        <a:t>q-axis transient OC time const.</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T'q0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1.25 s</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84048">
                <a:tc>
                  <a:txBody>
                    <a:bodyPr wrap="square"/>
                    <a:lstStyle/>
                    <a:p>
                      <a:pPr algn="l"/>
                      <a:r>
                        <a:rPr sz="1200" b="0">
                          <a:solidFill>
                            <a:srgbClr val="262D34"/>
                          </a:solidFill>
                          <a:latin typeface="Aptos"/>
                        </a:rPr>
                        <a:t>q-axis subtransient OC time const.</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T''q0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0.19 s</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84048">
                <a:tc>
                  <a:txBody>
                    <a:bodyPr wrap="square"/>
                    <a:lstStyle/>
                    <a:p>
                      <a:pPr algn="l"/>
                      <a:r>
                        <a:rPr sz="1200" b="0">
                          <a:solidFill>
                            <a:srgbClr val="262D34"/>
                          </a:solidFill>
                          <a:latin typeface="Aptos"/>
                        </a:rPr>
                        <a:t>Mechanical starting time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M = 2H</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1.5 s</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84048">
                <a:tc>
                  <a:txBody>
                    <a:bodyPr wrap="square"/>
                    <a:lstStyle/>
                    <a:p>
                      <a:pPr algn="l"/>
                      <a:r>
                        <a:rPr sz="1200" b="0">
                          <a:solidFill>
                            <a:srgbClr val="262D34"/>
                          </a:solidFill>
                          <a:latin typeface="Aptos"/>
                        </a:rPr>
                        <a:t>DG rating</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Sn</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4.05 MVA</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84048">
                <a:tc>
                  <a:txBody>
                    <a:bodyPr wrap="square"/>
                    <a:lstStyle/>
                    <a:p>
                      <a:pPr algn="l"/>
                      <a:r>
                        <a:rPr sz="1200" b="0">
                          <a:solidFill>
                            <a:srgbClr val="262D34"/>
                          </a:solidFill>
                          <a:latin typeface="Aptos"/>
                        </a:rPr>
                        <a:t>DG voltage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Un</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0.69 kV</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84048">
                <a:tc>
                  <a:txBody>
                    <a:bodyPr wrap="square"/>
                    <a:lstStyle/>
                    <a:p>
                      <a:pPr algn="l"/>
                      <a:r>
                        <a:rPr sz="1200" b="0">
                          <a:solidFill>
                            <a:srgbClr val="262D34"/>
                          </a:solidFill>
                          <a:latin typeface="Aptos"/>
                        </a:rPr>
                        <a:t>Step-up transformer</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0.69 / 4.16 kV</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84048">
                <a:tc>
                  <a:txBody>
                    <a:bodyPr wrap="square"/>
                    <a:lstStyle/>
                    <a:p>
                      <a:pPr algn="l"/>
                      <a:r>
                        <a:rPr sz="1200" b="0">
                          <a:solidFill>
                            <a:srgbClr val="262D34"/>
                          </a:solidFill>
                          <a:latin typeface="Aptos"/>
                        </a:rPr>
                        <a:t>Transformer leakage reactance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xT</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0.15 pu</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84048">
                <a:tc>
                  <a:txBody>
                    <a:bodyPr wrap="square"/>
                    <a:lstStyle/>
                    <a:p>
                      <a:pPr algn="l"/>
                      <a:r>
                        <a:rPr sz="1200" b="0">
                          <a:solidFill>
                            <a:srgbClr val="262D34"/>
                          </a:solidFill>
                          <a:latin typeface="Aptos"/>
                        </a:rPr>
                        <a:t>Connection node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692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bl>
          </a:graphicData>
        </a:graphic>
      </p:graphicFrame>
      <p:sp>
        <p:nvSpPr>
          <p:cNvPr id="6" name="TextBox 5"/>
          <p:cNvSpPr txBox="1"/>
          <p:nvPr/>
        </p:nvSpPr>
        <p:spPr>
          <a:xfrm>
            <a:off x="457200" y="5120640"/>
            <a:ext cx="11292840" cy="320040"/>
          </a:xfrm>
          <a:prstGeom prst="rect">
            <a:avLst/>
          </a:prstGeom>
          <a:noFill/>
        </p:spPr>
        <p:txBody>
          <a:bodyPr wrap="none">
            <a:spAutoFit/>
          </a:bodyPr>
          <a:lstStyle/>
          <a:p>
            <a:pPr algn="ctr"/>
            <a:r>
              <a:rPr sz="1200" i="1">
                <a:solidFill>
                  <a:srgbClr val="6B727A"/>
                </a:solidFill>
                <a:latin typeface="Aptos"/>
              </a:rPr>
              <a:t>Dynamic synchronous machine in PowerFactory, operating point 3.24 MW, voltage control at 1.0 pu</a:t>
            </a:r>
          </a:p>
        </p:txBody>
      </p:sp>
      <p:sp>
        <p:nvSpPr>
          <p:cNvPr id="7" name="TextBox 6"/>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10/30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4. Methodology: Protection Settings</a:t>
            </a:r>
          </a:p>
        </p:txBody>
      </p:sp>
      <p:graphicFrame>
        <p:nvGraphicFramePr>
          <p:cNvPr id="4" name="Table 3"/>
          <p:cNvGraphicFramePr>
            <a:graphicFrameLocks noGrp="1"/>
          </p:cNvGraphicFramePr>
          <p:nvPr/>
        </p:nvGraphicFramePr>
        <p:xfrm>
          <a:off x="685800" y="1234440"/>
          <a:ext cx="10424160" cy="1828800"/>
        </p:xfrm>
        <a:graphic>
          <a:graphicData uri="http://schemas.openxmlformats.org/drawingml/2006/table">
            <a:tbl>
              <a:tblPr firstRow="0" bandRow="0">
                <a:tableStyleId>{5940675A-B579-460E-94D1-54222C63F5DA}</a:tableStyleId>
              </a:tblPr>
              <a:tblGrid>
                <a:gridCol w="2743200"/>
                <a:gridCol w="2743200"/>
                <a:gridCol w="2926080"/>
                <a:gridCol w="2011680"/>
              </a:tblGrid>
              <a:tr h="457200">
                <a:tc>
                  <a:txBody>
                    <a:bodyPr wrap="square"/>
                    <a:lstStyle/>
                    <a:p>
                      <a:pPr algn="l"/>
                      <a:r>
                        <a:rPr sz="1500" b="1">
                          <a:solidFill>
                            <a:srgbClr val="1B3755"/>
                          </a:solidFill>
                          <a:latin typeface="Aptos"/>
                        </a:rPr>
                        <a:t>Device</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500" b="1">
                          <a:solidFill>
                            <a:srgbClr val="1B3755"/>
                          </a:solidFill>
                          <a:latin typeface="Aptos"/>
                        </a:rPr>
                        <a:t>Characteristic</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500" b="1">
                          <a:solidFill>
                            <a:srgbClr val="1B3755"/>
                          </a:solidFill>
                          <a:latin typeface="Aptos"/>
                        </a:rPr>
                        <a:t>Pickup / plug (fast / delayed)</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500" b="1">
                          <a:solidFill>
                            <a:srgbClr val="1B3755"/>
                          </a:solidFill>
                          <a:latin typeface="Aptos"/>
                        </a:rPr>
                        <a:t>Dial (fast / delayed)</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457200">
                <a:tc>
                  <a:txBody>
                    <a:bodyPr wrap="square"/>
                    <a:lstStyle/>
                    <a:p>
                      <a:pPr algn="l"/>
                      <a:r>
                        <a:rPr sz="1500" b="0">
                          <a:solidFill>
                            <a:srgbClr val="262D34"/>
                          </a:solidFill>
                          <a:latin typeface="Aptos"/>
                        </a:rPr>
                        <a:t>R1 (feeder head)</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500" b="0">
                          <a:solidFill>
                            <a:srgbClr val="262D34"/>
                          </a:solidFill>
                          <a:latin typeface="Aptos"/>
                        </a:rPr>
                        <a:t>GE IAC extremely inverse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500" b="0">
                          <a:solidFill>
                            <a:srgbClr val="262D34"/>
                          </a:solidFill>
                          <a:latin typeface="Aptos"/>
                        </a:rPr>
                        <a:t>720 A</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500" b="0">
                          <a:solidFill>
                            <a:srgbClr val="262D34"/>
                          </a:solidFill>
                          <a:latin typeface="Aptos"/>
                        </a:rPr>
                        <a:t>TDS 0.5 / 10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457200">
                <a:tc>
                  <a:txBody>
                    <a:bodyPr wrap="square"/>
                    <a:lstStyle/>
                    <a:p>
                      <a:pPr algn="l"/>
                      <a:r>
                        <a:rPr sz="1500" b="0">
                          <a:solidFill>
                            <a:srgbClr val="262D34"/>
                          </a:solidFill>
                          <a:latin typeface="Aptos"/>
                        </a:rPr>
                        <a:t>R2 forward (grid current)</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500" b="0">
                          <a:solidFill>
                            <a:srgbClr val="262D34"/>
                          </a:solidFill>
                          <a:latin typeface="Aptos"/>
                        </a:rPr>
                        <a:t>CDG34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500" b="0">
                          <a:solidFill>
                            <a:srgbClr val="262D34"/>
                          </a:solidFill>
                          <a:latin typeface="Aptos"/>
                        </a:rPr>
                        <a:t>300 / 600 A</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500" b="0">
                          <a:solidFill>
                            <a:srgbClr val="262D34"/>
                          </a:solidFill>
                          <a:latin typeface="Aptos"/>
                        </a:rPr>
                        <a:t>TMS 0.1 / 1.0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457200">
                <a:tc>
                  <a:txBody>
                    <a:bodyPr wrap="square"/>
                    <a:lstStyle/>
                    <a:p>
                      <a:pPr algn="l"/>
                      <a:r>
                        <a:rPr sz="1500" b="0">
                          <a:solidFill>
                            <a:srgbClr val="262D34"/>
                          </a:solidFill>
                          <a:latin typeface="Aptos"/>
                        </a:rPr>
                        <a:t>R2 reverse (DG current)</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500" b="0">
                          <a:solidFill>
                            <a:srgbClr val="262D34"/>
                          </a:solidFill>
                          <a:latin typeface="Aptos"/>
                        </a:rPr>
                        <a:t>CDG34, CT 500/5</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500" b="0">
                          <a:solidFill>
                            <a:srgbClr val="262D34"/>
                          </a:solidFill>
                          <a:latin typeface="Aptos"/>
                        </a:rPr>
                        <a:t>150 / 300 A</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500" b="0">
                          <a:solidFill>
                            <a:srgbClr val="262D34"/>
                          </a:solidFill>
                          <a:latin typeface="Aptos"/>
                        </a:rPr>
                        <a:t>TMS 0.1 / 1.0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bl>
          </a:graphicData>
        </a:graphic>
      </p:graphicFrame>
      <p:sp>
        <p:nvSpPr>
          <p:cNvPr id="5" name="TextBox 4"/>
          <p:cNvSpPr txBox="1"/>
          <p:nvPr/>
        </p:nvSpPr>
        <p:spPr>
          <a:xfrm>
            <a:off x="685800" y="3337560"/>
            <a:ext cx="10424160" cy="2377440"/>
          </a:xfrm>
          <a:prstGeom prst="rect">
            <a:avLst/>
          </a:prstGeom>
          <a:noFill/>
        </p:spPr>
        <p:txBody>
          <a:bodyPr wrap="square">
            <a:spAutoFit/>
          </a:bodyPr>
          <a:lstStyle/>
          <a:p>
            <a:pPr marL="342900" indent="-285750">
              <a:spcAft>
                <a:spcPts val="800"/>
              </a:spcAft>
              <a:buChar char="•"/>
            </a:pPr>
            <a:r>
              <a:rPr sz="1600" b="0">
                <a:solidFill>
                  <a:srgbClr val="262D34"/>
                </a:solidFill>
                <a:latin typeface="Aptos"/>
              </a:rPr>
              <a:t>Reverse load current of R2 with the DG: 252 A → reverse pickup 315 A (OLF = 1.25).</a:t>
            </a:r>
          </a:p>
          <a:p>
            <a:pPr marL="342900" indent="-285750">
              <a:spcAft>
                <a:spcPts val="800"/>
              </a:spcAft>
              <a:buChar char="•"/>
            </a:pPr>
            <a:r>
              <a:rPr sz="1600" b="0">
                <a:solidFill>
                  <a:srgbClr val="262D34"/>
                </a:solidFill>
                <a:latin typeface="Aptos"/>
              </a:rPr>
              <a:t>Dial revision could not help: R1 and R2 are already at the ends of their dial ranges.</a:t>
            </a:r>
          </a:p>
          <a:p>
            <a:pPr marL="342900" indent="-285750">
              <a:spcAft>
                <a:spcPts val="800"/>
              </a:spcAft>
              <a:buChar char="•"/>
            </a:pPr>
            <a:r>
              <a:rPr sz="1600" b="0">
                <a:solidFill>
                  <a:srgbClr val="262D34"/>
                </a:solidFill>
                <a:latin typeface="Aptos"/>
              </a:rPr>
              <a:t>Fuse revision (step 9 of the method): F632 → 500E; F633, F646, F-DL, F671-1 → 400E; F692-R → 250E.</a:t>
            </a:r>
          </a:p>
        </p:txBody>
      </p:sp>
      <p:sp>
        <p:nvSpPr>
          <p:cNvPr id="6" name="TextBox 5"/>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11/30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5. Results: Branch Currents and Fault Levels (DG out)</a:t>
            </a:r>
          </a:p>
        </p:txBody>
      </p:sp>
      <p:graphicFrame>
        <p:nvGraphicFramePr>
          <p:cNvPr id="4" name="Table 3"/>
          <p:cNvGraphicFramePr>
            <a:graphicFrameLocks noGrp="1"/>
          </p:cNvGraphicFramePr>
          <p:nvPr/>
        </p:nvGraphicFramePr>
        <p:xfrm>
          <a:off x="1280160" y="1005840"/>
          <a:ext cx="9601200" cy="4416552"/>
        </p:xfrm>
        <a:graphic>
          <a:graphicData uri="http://schemas.openxmlformats.org/drawingml/2006/table">
            <a:tbl>
              <a:tblPr firstRow="0" bandRow="0">
                <a:tableStyleId>{5940675A-B579-460E-94D1-54222C63F5DA}</a:tableStyleId>
              </a:tblPr>
              <a:tblGrid>
                <a:gridCol w="2377440"/>
                <a:gridCol w="2377440"/>
                <a:gridCol w="2468880"/>
                <a:gridCol w="2377440"/>
              </a:tblGrid>
              <a:tr h="315468">
                <a:tc>
                  <a:txBody>
                    <a:bodyPr wrap="square"/>
                    <a:lstStyle/>
                    <a:p>
                      <a:pPr algn="l"/>
                      <a:r>
                        <a:rPr sz="1200" b="1">
                          <a:solidFill>
                            <a:srgbClr val="1B3755"/>
                          </a:solidFill>
                          <a:latin typeface="Aptos"/>
                        </a:rPr>
                        <a:t>Branch</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1">
                          <a:solidFill>
                            <a:srgbClr val="1B3755"/>
                          </a:solidFill>
                          <a:latin typeface="Aptos"/>
                        </a:rPr>
                        <a:t>Rated current Inom (A)</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1">
                          <a:solidFill>
                            <a:srgbClr val="1B3755"/>
                          </a:solidFill>
                          <a:latin typeface="Aptos"/>
                        </a:rPr>
                        <a:t>If,min (kA)  LG 3 Ω, farthest node</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1">
                          <a:solidFill>
                            <a:srgbClr val="1B3755"/>
                          </a:solidFill>
                          <a:latin typeface="Aptos"/>
                        </a:rPr>
                        <a:t>If,max (kA)  bolted, nearest node</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15468">
                <a:tc>
                  <a:txBody>
                    <a:bodyPr wrap="square"/>
                    <a:lstStyle/>
                    <a:p>
                      <a:pPr algn="l"/>
                      <a:r>
                        <a:rPr sz="1200" b="0">
                          <a:solidFill>
                            <a:srgbClr val="262D34"/>
                          </a:solidFill>
                          <a:latin typeface="Aptos"/>
                        </a:rPr>
                        <a:t>RG60–632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587.7</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1.07</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4.73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15468">
                <a:tc>
                  <a:txBody>
                    <a:bodyPr wrap="square"/>
                    <a:lstStyle/>
                    <a:p>
                      <a:pPr algn="l"/>
                      <a:r>
                        <a:rPr sz="1200" b="0">
                          <a:solidFill>
                            <a:srgbClr val="262D34"/>
                          </a:solidFill>
                          <a:latin typeface="Aptos"/>
                        </a:rPr>
                        <a:t>632–633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81.0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0.76</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4.1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15468">
                <a:tc>
                  <a:txBody>
                    <a:bodyPr wrap="square"/>
                    <a:lstStyle/>
                    <a:p>
                      <a:pPr algn="l"/>
                      <a:r>
                        <a:rPr sz="1200" b="0">
                          <a:solidFill>
                            <a:srgbClr val="262D34"/>
                          </a:solidFill>
                          <a:latin typeface="Aptos"/>
                        </a:rPr>
                        <a:t>632–645</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143.1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0.73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3.42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15468">
                <a:tc>
                  <a:txBody>
                    <a:bodyPr wrap="square"/>
                    <a:lstStyle/>
                    <a:p>
                      <a:pPr algn="l"/>
                      <a:r>
                        <a:rPr sz="1200" b="0">
                          <a:solidFill>
                            <a:srgbClr val="262D34"/>
                          </a:solidFill>
                          <a:latin typeface="Aptos"/>
                        </a:rPr>
                        <a:t>632–671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470.0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0.88</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3.39</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15468">
                <a:tc>
                  <a:txBody>
                    <a:bodyPr wrap="square"/>
                    <a:lstStyle/>
                    <a:p>
                      <a:pPr algn="l"/>
                      <a:r>
                        <a:rPr sz="1200" b="0">
                          <a:solidFill>
                            <a:srgbClr val="262D34"/>
                          </a:solidFill>
                          <a:latin typeface="Aptos"/>
                        </a:rPr>
                        <a:t>XFM-1 HV side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81.0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0.08</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1.81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15468">
                <a:tc>
                  <a:txBody>
                    <a:bodyPr wrap="square"/>
                    <a:lstStyle/>
                    <a:p>
                      <a:pPr algn="l"/>
                      <a:r>
                        <a:rPr sz="1200" b="0">
                          <a:solidFill>
                            <a:srgbClr val="262D34"/>
                          </a:solidFill>
                          <a:latin typeface="Aptos"/>
                        </a:rPr>
                        <a:t>XFM-1 LV side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706.4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0.71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15.67</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15468">
                <a:tc>
                  <a:txBody>
                    <a:bodyPr wrap="square"/>
                    <a:lstStyle/>
                    <a:p>
                      <a:pPr algn="l"/>
                      <a:r>
                        <a:rPr sz="1200" b="0">
                          <a:solidFill>
                            <a:srgbClr val="262D34"/>
                          </a:solidFill>
                          <a:latin typeface="Aptos"/>
                        </a:rPr>
                        <a:t>645–646</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66.1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0.73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3.11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15468">
                <a:tc>
                  <a:txBody>
                    <a:bodyPr wrap="square"/>
                    <a:lstStyle/>
                    <a:p>
                      <a:pPr algn="l"/>
                      <a:r>
                        <a:rPr sz="1200" b="0">
                          <a:solidFill>
                            <a:srgbClr val="262D34"/>
                          </a:solidFill>
                          <a:latin typeface="Aptos"/>
                        </a:rPr>
                        <a:t>671–692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229.7</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0.74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3.39</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15468">
                <a:tc>
                  <a:txBody>
                    <a:bodyPr wrap="square"/>
                    <a:lstStyle/>
                    <a:p>
                      <a:pPr algn="l"/>
                      <a:r>
                        <a:rPr sz="1200" b="0">
                          <a:solidFill>
                            <a:srgbClr val="262D34"/>
                          </a:solidFill>
                          <a:latin typeface="Aptos"/>
                        </a:rPr>
                        <a:t>671–684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71.1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0.66</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2.66</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15468">
                <a:tc>
                  <a:txBody>
                    <a:bodyPr wrap="square"/>
                    <a:lstStyle/>
                    <a:p>
                      <a:pPr algn="l"/>
                      <a:r>
                        <a:rPr sz="1200" b="0">
                          <a:solidFill>
                            <a:srgbClr val="262D34"/>
                          </a:solidFill>
                          <a:latin typeface="Aptos"/>
                        </a:rPr>
                        <a:t>671–680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0.64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2.93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15468">
                <a:tc>
                  <a:txBody>
                    <a:bodyPr wrap="square"/>
                    <a:lstStyle/>
                    <a:p>
                      <a:pPr algn="l"/>
                      <a:r>
                        <a:rPr sz="1200" b="0">
                          <a:solidFill>
                            <a:srgbClr val="262D34"/>
                          </a:solidFill>
                          <a:latin typeface="Aptos"/>
                        </a:rPr>
                        <a:t>692–675</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205.9</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0.74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3.15</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15468">
                <a:tc>
                  <a:txBody>
                    <a:bodyPr wrap="square"/>
                    <a:lstStyle/>
                    <a:p>
                      <a:pPr algn="l"/>
                      <a:r>
                        <a:rPr sz="1200" b="0">
                          <a:solidFill>
                            <a:srgbClr val="262D34"/>
                          </a:solidFill>
                          <a:latin typeface="Aptos"/>
                        </a:rPr>
                        <a:t>684–611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71.1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0.68</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1.86</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15468">
                <a:tc>
                  <a:txBody>
                    <a:bodyPr wrap="square"/>
                    <a:lstStyle/>
                    <a:p>
                      <a:pPr algn="l"/>
                      <a:r>
                        <a:rPr sz="1200" b="0">
                          <a:solidFill>
                            <a:srgbClr val="262D34"/>
                          </a:solidFill>
                          <a:latin typeface="Aptos"/>
                        </a:rPr>
                        <a:t>684–652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63.0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0.66</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1.87</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bl>
          </a:graphicData>
        </a:graphic>
      </p:graphicFrame>
      <p:sp>
        <p:nvSpPr>
          <p:cNvPr id="5" name="TextBox 4"/>
          <p:cNvSpPr txBox="1"/>
          <p:nvPr/>
        </p:nvSpPr>
        <p:spPr>
          <a:xfrm>
            <a:off x="1280160" y="5715000"/>
            <a:ext cx="9601200" cy="320040"/>
          </a:xfrm>
          <a:prstGeom prst="rect">
            <a:avLst/>
          </a:prstGeom>
          <a:noFill/>
        </p:spPr>
        <p:txBody>
          <a:bodyPr wrap="none">
            <a:spAutoFit/>
          </a:bodyPr>
          <a:lstStyle/>
          <a:p>
            <a:pPr algn="ctr"/>
            <a:r>
              <a:rPr sz="1200" i="1">
                <a:solidFill>
                  <a:srgbClr val="6B727A"/>
                </a:solidFill>
                <a:latin typeface="Aptos"/>
              </a:rPr>
              <a:t>Unbalanced load flow (largest phase) and short circuit, complete method; XFM-1 LV side at 0.48 kV</a:t>
            </a:r>
          </a:p>
        </p:txBody>
      </p:sp>
      <p:sp>
        <p:nvSpPr>
          <p:cNvPr id="6" name="TextBox 5"/>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12/30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5. Results: Fuse Coefficients (eq. 9, a = −1.8)</a:t>
            </a:r>
          </a:p>
        </p:txBody>
      </p:sp>
      <p:graphicFrame>
        <p:nvGraphicFramePr>
          <p:cNvPr id="4" name="Table 3"/>
          <p:cNvGraphicFramePr>
            <a:graphicFrameLocks noGrp="1"/>
          </p:cNvGraphicFramePr>
          <p:nvPr/>
        </p:nvGraphicFramePr>
        <p:xfrm>
          <a:off x="548640" y="1005840"/>
          <a:ext cx="11064236" cy="4462272"/>
        </p:xfrm>
        <a:graphic>
          <a:graphicData uri="http://schemas.openxmlformats.org/drawingml/2006/table">
            <a:tbl>
              <a:tblPr firstRow="0" bandRow="0">
                <a:tableStyleId>{5940675A-B579-460E-94D1-54222C63F5DA}</a:tableStyleId>
              </a:tblPr>
              <a:tblGrid>
                <a:gridCol w="1272877"/>
                <a:gridCol w="1077049"/>
                <a:gridCol w="881222"/>
                <a:gridCol w="1272877"/>
                <a:gridCol w="1370790"/>
                <a:gridCol w="1272877"/>
                <a:gridCol w="979136"/>
                <a:gridCol w="1664531"/>
                <a:gridCol w="1272877"/>
              </a:tblGrid>
              <a:tr h="278892">
                <a:tc>
                  <a:txBody>
                    <a:bodyPr wrap="square"/>
                    <a:lstStyle/>
                    <a:p>
                      <a:pPr algn="l"/>
                      <a:r>
                        <a:rPr sz="1150" b="1">
                          <a:solidFill>
                            <a:srgbClr val="1B3755"/>
                          </a:solidFill>
                          <a:latin typeface="Aptos"/>
                        </a:rPr>
                        <a:t>Fuse</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1">
                          <a:solidFill>
                            <a:srgbClr val="1B3755"/>
                          </a:solidFill>
                          <a:latin typeface="Aptos"/>
                        </a:rPr>
                        <a:t>If (A)</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1">
                          <a:solidFill>
                            <a:srgbClr val="1B3755"/>
                          </a:solidFill>
                          <a:latin typeface="Aptos"/>
                        </a:rPr>
                        <a:t>i / z</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1">
                          <a:solidFill>
                            <a:srgbClr val="1B3755"/>
                          </a:solidFill>
                          <a:latin typeface="Aptos"/>
                        </a:rPr>
                        <a:t>t fast (s)</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1">
                          <a:solidFill>
                            <a:srgbClr val="1B3755"/>
                          </a:solidFill>
                          <a:latin typeface="Aptos"/>
                        </a:rPr>
                        <a:t>t delayed (s)</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1">
                          <a:solidFill>
                            <a:srgbClr val="1B3755"/>
                          </a:solidFill>
                          <a:latin typeface="Aptos"/>
                        </a:rPr>
                        <a:t>t fuse (s)</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1">
                          <a:solidFill>
                            <a:srgbClr val="1B3755"/>
                          </a:solidFill>
                          <a:latin typeface="Aptos"/>
                        </a:rPr>
                        <a:t>b i</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1">
                          <a:solidFill>
                            <a:srgbClr val="1B3755"/>
                          </a:solidFill>
                          <a:latin typeface="Aptos"/>
                        </a:rPr>
                        <a:t>Installed fuse</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1">
                          <a:solidFill>
                            <a:srgbClr val="1B3755"/>
                          </a:solidFill>
                          <a:latin typeface="Aptos"/>
                        </a:rPr>
                        <a:t>t MMT (s)</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278892">
                <a:tc>
                  <a:txBody>
                    <a:bodyPr wrap="square"/>
                    <a:lstStyle/>
                    <a:p>
                      <a:pPr algn="l"/>
                      <a:r>
                        <a:rPr sz="1150" b="0">
                          <a:solidFill>
                            <a:srgbClr val="262D34"/>
                          </a:solidFill>
                          <a:latin typeface="Aptos"/>
                        </a:rPr>
                        <a:t>F632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3418</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0.133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2.670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1.824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6.62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400E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0.512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278892">
                <a:tc>
                  <a:txBody>
                    <a:bodyPr wrap="square"/>
                    <a:lstStyle/>
                    <a:p>
                      <a:pPr algn="l"/>
                      <a:r>
                        <a:rPr sz="1150" b="0">
                          <a:solidFill>
                            <a:srgbClr val="262D34"/>
                          </a:solidFill>
                          <a:latin typeface="Aptos"/>
                        </a:rPr>
                        <a:t>F633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4102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0.100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2.008</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1.054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6.53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250E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0.102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278892">
                <a:tc>
                  <a:txBody>
                    <a:bodyPr wrap="square"/>
                    <a:lstStyle/>
                    <a:p>
                      <a:pPr algn="l"/>
                      <a:r>
                        <a:rPr sz="1150" b="0">
                          <a:solidFill>
                            <a:srgbClr val="262D34"/>
                          </a:solidFill>
                          <a:latin typeface="Aptos"/>
                        </a:rPr>
                        <a:t>F634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15671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0.439</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8.772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3.217</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8.06</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gL-800A</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0.021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278892">
                <a:tc>
                  <a:txBody>
                    <a:bodyPr wrap="square"/>
                    <a:lstStyle/>
                    <a:p>
                      <a:pPr algn="l"/>
                      <a:r>
                        <a:rPr sz="1150" b="0">
                          <a:solidFill>
                            <a:srgbClr val="262D34"/>
                          </a:solidFill>
                          <a:latin typeface="Aptos"/>
                        </a:rPr>
                        <a:t>F645</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3418</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0.133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2.670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0.979</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6.35</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250E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0.158</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278892">
                <a:tc>
                  <a:txBody>
                    <a:bodyPr wrap="square"/>
                    <a:lstStyle/>
                    <a:p>
                      <a:pPr algn="l"/>
                      <a:r>
                        <a:rPr sz="1150" b="0">
                          <a:solidFill>
                            <a:srgbClr val="262D34"/>
                          </a:solidFill>
                          <a:latin typeface="Aptos"/>
                        </a:rPr>
                        <a:t>F646</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3112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0.156</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3.115</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1.142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6.35</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300E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0.273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278892">
                <a:tc>
                  <a:txBody>
                    <a:bodyPr wrap="square"/>
                    <a:lstStyle/>
                    <a:p>
                      <a:pPr algn="l"/>
                      <a:r>
                        <a:rPr sz="1150" b="0">
                          <a:solidFill>
                            <a:srgbClr val="262D34"/>
                          </a:solidFill>
                          <a:latin typeface="Aptos"/>
                        </a:rPr>
                        <a:t>F-DL</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3946</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0.106</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2.130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1.118</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6.52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250E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0.112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278892">
                <a:tc>
                  <a:txBody>
                    <a:bodyPr wrap="square"/>
                    <a:lstStyle/>
                    <a:p>
                      <a:pPr algn="l"/>
                      <a:r>
                        <a:rPr sz="1150" b="0">
                          <a:solidFill>
                            <a:srgbClr val="262D34"/>
                          </a:solidFill>
                          <a:latin typeface="Aptos"/>
                        </a:rPr>
                        <a:t>F671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3390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0.054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1.601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0.827</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6.27</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250E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0.161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278892">
                <a:tc>
                  <a:txBody>
                    <a:bodyPr wrap="square"/>
                    <a:lstStyle/>
                    <a:p>
                      <a:pPr algn="l"/>
                      <a:r>
                        <a:rPr sz="1150" b="0">
                          <a:solidFill>
                            <a:srgbClr val="262D34"/>
                          </a:solidFill>
                          <a:latin typeface="Aptos"/>
                        </a:rPr>
                        <a:t>F671-1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3390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0.054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1.601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1.214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6.44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300E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0.218</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278892">
                <a:tc>
                  <a:txBody>
                    <a:bodyPr wrap="square"/>
                    <a:lstStyle/>
                    <a:p>
                      <a:pPr algn="l"/>
                      <a:r>
                        <a:rPr sz="1150" b="0">
                          <a:solidFill>
                            <a:srgbClr val="262D34"/>
                          </a:solidFill>
                          <a:latin typeface="Aptos"/>
                        </a:rPr>
                        <a:t>F692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3390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0.054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1.601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0.569</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6.11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200E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0.094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278892">
                <a:tc>
                  <a:txBody>
                    <a:bodyPr wrap="square"/>
                    <a:lstStyle/>
                    <a:p>
                      <a:pPr algn="l"/>
                      <a:r>
                        <a:rPr sz="1150" b="0">
                          <a:solidFill>
                            <a:srgbClr val="262D34"/>
                          </a:solidFill>
                          <a:latin typeface="Aptos"/>
                        </a:rPr>
                        <a:t>F692-R</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3151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0.057</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1.829</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0.943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6.27</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200E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0.112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278892">
                <a:tc>
                  <a:txBody>
                    <a:bodyPr wrap="square"/>
                    <a:lstStyle/>
                    <a:p>
                      <a:pPr algn="l"/>
                      <a:r>
                        <a:rPr sz="1150" b="0">
                          <a:solidFill>
                            <a:srgbClr val="262D34"/>
                          </a:solidFill>
                          <a:latin typeface="Aptos"/>
                        </a:rPr>
                        <a:t>F675</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3151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0.057</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1.829</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0.500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6.0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200E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0.112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278892">
                <a:tc>
                  <a:txBody>
                    <a:bodyPr wrap="square"/>
                    <a:lstStyle/>
                    <a:p>
                      <a:pPr algn="l"/>
                      <a:r>
                        <a:rPr sz="1150" b="0">
                          <a:solidFill>
                            <a:srgbClr val="262D34"/>
                          </a:solidFill>
                          <a:latin typeface="Aptos"/>
                        </a:rPr>
                        <a:t>F671-2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2655</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0.069</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2.572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1.946</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6.45</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300E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0.428</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278892">
                <a:tc>
                  <a:txBody>
                    <a:bodyPr wrap="square"/>
                    <a:lstStyle/>
                    <a:p>
                      <a:pPr algn="l"/>
                      <a:r>
                        <a:rPr sz="1150" b="0">
                          <a:solidFill>
                            <a:srgbClr val="262D34"/>
                          </a:solidFill>
                          <a:latin typeface="Aptos"/>
                        </a:rPr>
                        <a:t>F684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1857</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0.113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5.778</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2.946</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6.35</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200E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0.465</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278892">
                <a:tc>
                  <a:txBody>
                    <a:bodyPr wrap="square"/>
                    <a:lstStyle/>
                    <a:p>
                      <a:pPr algn="l"/>
                      <a:r>
                        <a:rPr sz="1150" b="0">
                          <a:solidFill>
                            <a:srgbClr val="262D34"/>
                          </a:solidFill>
                          <a:latin typeface="Aptos"/>
                        </a:rPr>
                        <a:t>F611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1857</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0.113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5.778</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1.530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6.07</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125E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0.120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278892">
                <a:tc>
                  <a:txBody>
                    <a:bodyPr wrap="square"/>
                    <a:lstStyle/>
                    <a:p>
                      <a:pPr algn="l"/>
                      <a:r>
                        <a:rPr sz="1150" b="0">
                          <a:solidFill>
                            <a:srgbClr val="262D34"/>
                          </a:solidFill>
                          <a:latin typeface="Aptos"/>
                        </a:rPr>
                        <a:t>F652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1874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0.112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5.660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1.961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6.18</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150E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0.207</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bl>
          </a:graphicData>
        </a:graphic>
      </p:graphicFrame>
      <p:sp>
        <p:nvSpPr>
          <p:cNvPr id="5" name="TextBox 4"/>
          <p:cNvSpPr txBox="1"/>
          <p:nvPr/>
        </p:nvSpPr>
        <p:spPr>
          <a:xfrm>
            <a:off x="548640" y="5532120"/>
            <a:ext cx="11064240" cy="320040"/>
          </a:xfrm>
          <a:prstGeom prst="rect">
            <a:avLst/>
          </a:prstGeom>
          <a:noFill/>
        </p:spPr>
        <p:txBody>
          <a:bodyPr wrap="none">
            <a:spAutoFit/>
          </a:bodyPr>
          <a:lstStyle/>
          <a:p>
            <a:pPr algn="ctr"/>
            <a:r>
              <a:rPr sz="1200" i="1">
                <a:solidFill>
                  <a:srgbClr val="6B727A"/>
                </a:solidFill>
                <a:latin typeface="Aptos"/>
              </a:rPr>
              <a:t>If: largest fault current below the fuse, DG out. i / z: position in a series of z fuses (1 = closest to the fault)</a:t>
            </a:r>
          </a:p>
        </p:txBody>
      </p:sp>
      <p:sp>
        <p:nvSpPr>
          <p:cNvPr id="6" name="TextBox 5"/>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13/30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5. Results: Coordination Without DG</a:t>
            </a:r>
          </a:p>
        </p:txBody>
      </p:sp>
      <p:pic>
        <p:nvPicPr>
          <p:cNvPr id="4" name="Picture 3" descr="fig08.png"/>
          <p:cNvPicPr>
            <a:picLocks noChangeAspect="1"/>
          </p:cNvPicPr>
          <p:nvPr/>
        </p:nvPicPr>
        <p:blipFill>
          <a:blip r:embed="rId2"/>
          <a:stretch>
            <a:fillRect/>
          </a:stretch>
        </p:blipFill>
        <p:spPr>
          <a:xfrm>
            <a:off x="411480" y="966354"/>
            <a:ext cx="5577840" cy="4056610"/>
          </a:xfrm>
          <a:prstGeom prst="rect">
            <a:avLst/>
          </a:prstGeom>
        </p:spPr>
      </p:pic>
      <p:pic>
        <p:nvPicPr>
          <p:cNvPr id="5" name="Picture 4" descr="fig09.png"/>
          <p:cNvPicPr>
            <a:picLocks noChangeAspect="1"/>
          </p:cNvPicPr>
          <p:nvPr/>
        </p:nvPicPr>
        <p:blipFill>
          <a:blip r:embed="rId3"/>
          <a:stretch>
            <a:fillRect/>
          </a:stretch>
        </p:blipFill>
        <p:spPr>
          <a:xfrm>
            <a:off x="6172200" y="966354"/>
            <a:ext cx="5577840" cy="4056610"/>
          </a:xfrm>
          <a:prstGeom prst="rect">
            <a:avLst/>
          </a:prstGeom>
        </p:spPr>
      </p:pic>
      <p:sp>
        <p:nvSpPr>
          <p:cNvPr id="6" name="TextBox 5"/>
          <p:cNvSpPr txBox="1"/>
          <p:nvPr/>
        </p:nvSpPr>
        <p:spPr>
          <a:xfrm>
            <a:off x="411480" y="4983480"/>
            <a:ext cx="5577840" cy="320040"/>
          </a:xfrm>
          <a:prstGeom prst="rect">
            <a:avLst/>
          </a:prstGeom>
          <a:noFill/>
        </p:spPr>
        <p:txBody>
          <a:bodyPr wrap="none">
            <a:spAutoFit/>
          </a:bodyPr>
          <a:lstStyle/>
          <a:p>
            <a:pPr algn="ctr"/>
            <a:r>
              <a:rPr sz="1200" i="1">
                <a:solidFill>
                  <a:srgbClr val="6B727A"/>
                </a:solidFill>
                <a:latin typeface="Aptos"/>
              </a:rPr>
              <a:t>LG fault at 611: R2 fast 0.128 s &lt; F684 melts 0.271 s – held</a:t>
            </a:r>
          </a:p>
        </p:txBody>
      </p:sp>
      <p:sp>
        <p:nvSpPr>
          <p:cNvPr id="7" name="TextBox 6"/>
          <p:cNvSpPr txBox="1"/>
          <p:nvPr/>
        </p:nvSpPr>
        <p:spPr>
          <a:xfrm>
            <a:off x="6172200" y="4983480"/>
            <a:ext cx="5577840" cy="320040"/>
          </a:xfrm>
          <a:prstGeom prst="rect">
            <a:avLst/>
          </a:prstGeom>
          <a:noFill/>
        </p:spPr>
        <p:txBody>
          <a:bodyPr wrap="none">
            <a:spAutoFit/>
          </a:bodyPr>
          <a:lstStyle/>
          <a:p>
            <a:pPr algn="ctr"/>
            <a:r>
              <a:rPr sz="1200" i="1">
                <a:solidFill>
                  <a:srgbClr val="6B727A"/>
                </a:solidFill>
                <a:latin typeface="Aptos"/>
              </a:rPr>
              <a:t>LLG fault mid 692–675, 1 Ω: R2 fast 0.204 s &lt; F692-R melts 0.331 s – held</a:t>
            </a:r>
          </a:p>
        </p:txBody>
      </p:sp>
      <p:sp>
        <p:nvSpPr>
          <p:cNvPr id="8" name="TextBox 7"/>
          <p:cNvSpPr txBox="1"/>
          <p:nvPr/>
        </p:nvSpPr>
        <p:spPr>
          <a:xfrm>
            <a:off x="685800" y="5349240"/>
            <a:ext cx="10789920" cy="548640"/>
          </a:xfrm>
          <a:prstGeom prst="rect">
            <a:avLst/>
          </a:prstGeom>
          <a:noFill/>
        </p:spPr>
        <p:txBody>
          <a:bodyPr wrap="square">
            <a:spAutoFit/>
          </a:bodyPr>
          <a:lstStyle/>
          <a:p>
            <a:pPr>
              <a:spcAft>
                <a:spcPts val="800"/>
              </a:spcAft>
            </a:pPr>
            <a:r>
              <a:rPr sz="1400" b="0">
                <a:solidFill>
                  <a:srgbClr val="262D34"/>
                </a:solidFill>
                <a:latin typeface="Aptos"/>
              </a:rPr>
              <a:t>Fault levels within about 2 % of the IEEE benchmark. </a:t>
            </a:r>
            <a:r>
              <a:rPr sz="1400" b="1">
                <a:solidFill>
                  <a:srgbClr val="262D34"/>
                </a:solidFill>
                <a:latin typeface="Aptos"/>
              </a:rPr>
              <a:t>35 of 39</a:t>
            </a:r>
            <a:r>
              <a:rPr sz="1400" b="0">
                <a:solidFill>
                  <a:srgbClr val="262D34"/>
                </a:solidFill>
                <a:latin typeface="Aptos"/>
              </a:rPr>
              <a:t> cells held with the starting fuses, </a:t>
            </a:r>
            <a:r>
              <a:rPr sz="1400" b="1">
                <a:solidFill>
                  <a:srgbClr val="262D34"/>
                </a:solidFill>
                <a:latin typeface="Aptos"/>
              </a:rPr>
              <a:t>39 of 39</a:t>
            </a:r>
            <a:r>
              <a:rPr sz="1400" b="0">
                <a:solidFill>
                  <a:srgbClr val="262D34"/>
                </a:solidFill>
                <a:latin typeface="Aptos"/>
              </a:rPr>
              <a:t> after F692-R → 200E. R2 fast below the fuses, delayed above them.</a:t>
            </a:r>
          </a:p>
        </p:txBody>
      </p:sp>
      <p:sp>
        <p:nvSpPr>
          <p:cNvPr id="9" name="TextBox 8"/>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14/30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5. Results: DG Connected, Conventional R2</a:t>
            </a:r>
          </a:p>
        </p:txBody>
      </p:sp>
      <p:pic>
        <p:nvPicPr>
          <p:cNvPr id="4" name="Picture 3" descr="fig14.png"/>
          <p:cNvPicPr>
            <a:picLocks noChangeAspect="1"/>
          </p:cNvPicPr>
          <p:nvPr/>
        </p:nvPicPr>
        <p:blipFill>
          <a:blip r:embed="rId2"/>
          <a:stretch>
            <a:fillRect/>
          </a:stretch>
        </p:blipFill>
        <p:spPr>
          <a:xfrm>
            <a:off x="365760" y="2088766"/>
            <a:ext cx="6675120" cy="2406147"/>
          </a:xfrm>
          <a:prstGeom prst="rect">
            <a:avLst/>
          </a:prstGeom>
        </p:spPr>
      </p:pic>
      <p:sp>
        <p:nvSpPr>
          <p:cNvPr id="5" name="TextBox 4"/>
          <p:cNvSpPr txBox="1"/>
          <p:nvPr/>
        </p:nvSpPr>
        <p:spPr>
          <a:xfrm>
            <a:off x="7223760" y="1188720"/>
            <a:ext cx="3931920" cy="4480560"/>
          </a:xfrm>
          <a:prstGeom prst="rect">
            <a:avLst/>
          </a:prstGeom>
          <a:noFill/>
        </p:spPr>
        <p:txBody>
          <a:bodyPr wrap="square">
            <a:spAutoFit/>
          </a:bodyPr>
          <a:lstStyle/>
          <a:p>
            <a:pPr marL="342900" indent="-285750">
              <a:spcAft>
                <a:spcPts val="800"/>
              </a:spcAft>
              <a:buChar char="•"/>
            </a:pPr>
            <a:r>
              <a:rPr sz="1600" b="0">
                <a:solidFill>
                  <a:srgbClr val="262D34"/>
                </a:solidFill>
                <a:latin typeface="Aptos"/>
              </a:rPr>
              <a:t>Coordination held in </a:t>
            </a:r>
            <a:r>
              <a:rPr sz="1600" b="1">
                <a:solidFill>
                  <a:srgbClr val="262D34"/>
                </a:solidFill>
                <a:latin typeface="Aptos"/>
              </a:rPr>
              <a:t>24 of 39</a:t>
            </a:r>
            <a:r>
              <a:rPr sz="1600" b="0">
                <a:solidFill>
                  <a:srgbClr val="262D34"/>
                </a:solidFill>
                <a:latin typeface="Aptos"/>
              </a:rPr>
              <a:t> cells.</a:t>
            </a:r>
          </a:p>
          <a:p>
            <a:pPr marL="342900" indent="-285750">
              <a:spcAft>
                <a:spcPts val="800"/>
              </a:spcAft>
              <a:buChar char="•"/>
            </a:pPr>
            <a:r>
              <a:rPr sz="1600" b="0">
                <a:solidFill>
                  <a:srgbClr val="262D34"/>
                </a:solidFill>
                <a:latin typeface="Aptos"/>
              </a:rPr>
              <a:t>Lost at 633, 645, 646, DL and 675.</a:t>
            </a:r>
          </a:p>
          <a:p>
            <a:pPr marL="342900" indent="-285750">
              <a:spcAft>
                <a:spcPts val="800"/>
              </a:spcAft>
              <a:buChar char="•"/>
            </a:pPr>
            <a:r>
              <a:rPr sz="1600" b="0">
                <a:solidFill>
                  <a:srgbClr val="262D34"/>
                </a:solidFill>
                <a:latin typeface="Aptos"/>
              </a:rPr>
              <a:t>The fuse carries grid + DG current and melts before the fast trip.</a:t>
            </a:r>
          </a:p>
          <a:p>
            <a:pPr marL="342900" indent="-285750">
              <a:spcAft>
                <a:spcPts val="800"/>
              </a:spcAft>
              <a:buChar char="•"/>
            </a:pPr>
            <a:r>
              <a:rPr sz="1600" b="0">
                <a:solidFill>
                  <a:srgbClr val="262D34"/>
                </a:solidFill>
                <a:latin typeface="Aptos"/>
              </a:rPr>
              <a:t>For some LG faults the single-setting R2 does not pick up the reverse DG current at all.</a:t>
            </a:r>
          </a:p>
        </p:txBody>
      </p:sp>
      <p:sp>
        <p:nvSpPr>
          <p:cNvPr id="6" name="TextBox 5"/>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15/30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5. Results: Conventional R2 with DG – Three Faults</a:t>
            </a:r>
          </a:p>
        </p:txBody>
      </p:sp>
      <p:pic>
        <p:nvPicPr>
          <p:cNvPr id="4" name="Picture 3" descr="fig11.png"/>
          <p:cNvPicPr>
            <a:picLocks noChangeAspect="1"/>
          </p:cNvPicPr>
          <p:nvPr/>
        </p:nvPicPr>
        <p:blipFill>
          <a:blip r:embed="rId2"/>
          <a:stretch>
            <a:fillRect/>
          </a:stretch>
        </p:blipFill>
        <p:spPr>
          <a:xfrm>
            <a:off x="320040" y="974667"/>
            <a:ext cx="3794760" cy="2759825"/>
          </a:xfrm>
          <a:prstGeom prst="rect">
            <a:avLst/>
          </a:prstGeom>
        </p:spPr>
      </p:pic>
      <p:sp>
        <p:nvSpPr>
          <p:cNvPr id="5" name="TextBox 4"/>
          <p:cNvSpPr txBox="1"/>
          <p:nvPr/>
        </p:nvSpPr>
        <p:spPr>
          <a:xfrm>
            <a:off x="411479" y="3840480"/>
            <a:ext cx="3611880" cy="1920240"/>
          </a:xfrm>
          <a:prstGeom prst="rect">
            <a:avLst/>
          </a:prstGeom>
          <a:noFill/>
        </p:spPr>
        <p:txBody>
          <a:bodyPr wrap="square">
            <a:spAutoFit/>
          </a:bodyPr>
          <a:lstStyle/>
          <a:p>
            <a:pPr algn="ctr"/>
            <a:r>
              <a:rPr sz="1500" b="1">
                <a:solidFill>
                  <a:srgbClr val="1B3755"/>
                </a:solidFill>
                <a:latin typeface="Aptos"/>
              </a:rPr>
              <a:t>LL fault at 646, 1 Ω</a:t>
            </a:r>
          </a:p>
          <a:p>
            <a:pPr algn="ctr"/>
            <a:r>
              <a:rPr sz="1300" b="0">
                <a:solidFill>
                  <a:srgbClr val="262D34"/>
                </a:solidFill>
                <a:latin typeface="Aptos"/>
              </a:rPr>
              <a:t>R1 1899 A: fast 0.395 s</a:t>
            </a:r>
          </a:p>
          <a:p>
            <a:pPr algn="ctr"/>
            <a:r>
              <a:rPr sz="1300" b="0">
                <a:solidFill>
                  <a:srgbClr val="262D34"/>
                </a:solidFill>
                <a:latin typeface="Aptos"/>
              </a:rPr>
              <a:t>F646 300E melts 0.595 s</a:t>
            </a:r>
          </a:p>
          <a:p>
            <a:pPr algn="ctr"/>
            <a:r>
              <a:rPr sz="1300" b="0">
                <a:solidFill>
                  <a:srgbClr val="262D34"/>
                </a:solidFill>
                <a:latin typeface="Aptos"/>
              </a:rPr>
              <a:t>R1 trips first</a:t>
            </a:r>
          </a:p>
          <a:p>
            <a:pPr algn="ctr"/>
            <a:r>
              <a:rPr sz="1300" b="1">
                <a:solidFill>
                  <a:srgbClr val="2E7D32"/>
                </a:solidFill>
                <a:latin typeface="Aptos"/>
              </a:rPr>
              <a:t>coordination HELD</a:t>
            </a:r>
          </a:p>
        </p:txBody>
      </p:sp>
      <p:pic>
        <p:nvPicPr>
          <p:cNvPr id="6" name="Picture 5" descr="fig12.png"/>
          <p:cNvPicPr>
            <a:picLocks noChangeAspect="1"/>
          </p:cNvPicPr>
          <p:nvPr/>
        </p:nvPicPr>
        <p:blipFill>
          <a:blip r:embed="rId3"/>
          <a:stretch>
            <a:fillRect/>
          </a:stretch>
        </p:blipFill>
        <p:spPr>
          <a:xfrm>
            <a:off x="4206240" y="974667"/>
            <a:ext cx="3794760" cy="2759825"/>
          </a:xfrm>
          <a:prstGeom prst="rect">
            <a:avLst/>
          </a:prstGeom>
        </p:spPr>
      </p:pic>
      <p:sp>
        <p:nvSpPr>
          <p:cNvPr id="7" name="TextBox 6"/>
          <p:cNvSpPr txBox="1"/>
          <p:nvPr/>
        </p:nvSpPr>
        <p:spPr>
          <a:xfrm>
            <a:off x="4297679" y="3840480"/>
            <a:ext cx="3611880" cy="1920240"/>
          </a:xfrm>
          <a:prstGeom prst="rect">
            <a:avLst/>
          </a:prstGeom>
          <a:noFill/>
        </p:spPr>
        <p:txBody>
          <a:bodyPr wrap="square">
            <a:spAutoFit/>
          </a:bodyPr>
          <a:lstStyle/>
          <a:p>
            <a:pPr algn="ctr"/>
            <a:r>
              <a:rPr sz="1500" b="1">
                <a:solidFill>
                  <a:srgbClr val="1B3755"/>
                </a:solidFill>
                <a:latin typeface="Aptos"/>
              </a:rPr>
              <a:t>LL fault at 645, 1.5 Ω</a:t>
            </a:r>
          </a:p>
          <a:p>
            <a:pPr algn="ctr"/>
            <a:r>
              <a:rPr sz="1300" b="0">
                <a:solidFill>
                  <a:srgbClr val="262D34"/>
                </a:solidFill>
                <a:latin typeface="Aptos"/>
              </a:rPr>
              <a:t>R2 783 A (reverse): fast 0.605 s</a:t>
            </a:r>
          </a:p>
          <a:p>
            <a:pPr algn="ctr"/>
            <a:r>
              <a:rPr sz="1300" b="0">
                <a:solidFill>
                  <a:srgbClr val="262D34"/>
                </a:solidFill>
                <a:latin typeface="Aptos"/>
              </a:rPr>
              <a:t>F632 400E melts 2.649 s</a:t>
            </a:r>
          </a:p>
          <a:p>
            <a:pPr algn="ctr"/>
            <a:r>
              <a:rPr sz="1300" b="0">
                <a:solidFill>
                  <a:srgbClr val="262D34"/>
                </a:solidFill>
                <a:latin typeface="Aptos"/>
              </a:rPr>
              <a:t>R2 trips first</a:t>
            </a:r>
          </a:p>
          <a:p>
            <a:pPr algn="ctr"/>
            <a:r>
              <a:rPr sz="1300" b="1">
                <a:solidFill>
                  <a:srgbClr val="2E7D32"/>
                </a:solidFill>
                <a:latin typeface="Aptos"/>
              </a:rPr>
              <a:t>coordination HELD</a:t>
            </a:r>
          </a:p>
        </p:txBody>
      </p:sp>
      <p:pic>
        <p:nvPicPr>
          <p:cNvPr id="8" name="Picture 7" descr="fig13.png"/>
          <p:cNvPicPr>
            <a:picLocks noChangeAspect="1"/>
          </p:cNvPicPr>
          <p:nvPr/>
        </p:nvPicPr>
        <p:blipFill>
          <a:blip r:embed="rId4"/>
          <a:stretch>
            <a:fillRect/>
          </a:stretch>
        </p:blipFill>
        <p:spPr>
          <a:xfrm>
            <a:off x="8092440" y="974667"/>
            <a:ext cx="3794760" cy="2759825"/>
          </a:xfrm>
          <a:prstGeom prst="rect">
            <a:avLst/>
          </a:prstGeom>
        </p:spPr>
      </p:pic>
      <p:sp>
        <p:nvSpPr>
          <p:cNvPr id="9" name="TextBox 8"/>
          <p:cNvSpPr txBox="1"/>
          <p:nvPr/>
        </p:nvSpPr>
        <p:spPr>
          <a:xfrm>
            <a:off x="8183879" y="3840480"/>
            <a:ext cx="3611880" cy="1920240"/>
          </a:xfrm>
          <a:prstGeom prst="rect">
            <a:avLst/>
          </a:prstGeom>
          <a:noFill/>
        </p:spPr>
        <p:txBody>
          <a:bodyPr wrap="square">
            <a:spAutoFit/>
          </a:bodyPr>
          <a:lstStyle/>
          <a:p>
            <a:pPr algn="ctr"/>
            <a:r>
              <a:rPr sz="1500" b="1">
                <a:solidFill>
                  <a:srgbClr val="1B3755"/>
                </a:solidFill>
                <a:latin typeface="Aptos"/>
              </a:rPr>
              <a:t>3-phase fault at 10 % of 632–633</a:t>
            </a:r>
          </a:p>
          <a:p>
            <a:pPr algn="ctr"/>
            <a:r>
              <a:rPr sz="1300" b="0">
                <a:solidFill>
                  <a:srgbClr val="262D34"/>
                </a:solidFill>
                <a:latin typeface="Aptos"/>
              </a:rPr>
              <a:t>R2 1777 A (reverse): fast 0.121 s</a:t>
            </a:r>
          </a:p>
          <a:p>
            <a:pPr algn="ctr"/>
            <a:r>
              <a:rPr sz="1300" b="0">
                <a:solidFill>
                  <a:srgbClr val="262D34"/>
                </a:solidFill>
                <a:latin typeface="Aptos"/>
              </a:rPr>
              <a:t>F633 250E melts 0.039 s</a:t>
            </a:r>
          </a:p>
          <a:p>
            <a:pPr algn="ctr"/>
            <a:r>
              <a:rPr sz="1300" b="0">
                <a:solidFill>
                  <a:srgbClr val="262D34"/>
                </a:solidFill>
                <a:latin typeface="Aptos"/>
              </a:rPr>
              <a:t>the fuse melts first</a:t>
            </a:r>
          </a:p>
          <a:p>
            <a:pPr algn="ctr"/>
            <a:r>
              <a:rPr sz="1300" b="1">
                <a:solidFill>
                  <a:srgbClr val="C62828"/>
                </a:solidFill>
                <a:latin typeface="Aptos"/>
              </a:rPr>
              <a:t>coordination LOST</a:t>
            </a:r>
          </a:p>
        </p:txBody>
      </p:sp>
      <p:sp>
        <p:nvSpPr>
          <p:cNvPr id="10" name="TextBox 9"/>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16/30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5. Results: With the DSDR</a:t>
            </a:r>
          </a:p>
        </p:txBody>
      </p:sp>
      <p:pic>
        <p:nvPicPr>
          <p:cNvPr id="4" name="Picture 3" descr="fig17.png"/>
          <p:cNvPicPr>
            <a:picLocks noChangeAspect="1"/>
          </p:cNvPicPr>
          <p:nvPr/>
        </p:nvPicPr>
        <p:blipFill>
          <a:blip r:embed="rId2"/>
          <a:stretch>
            <a:fillRect/>
          </a:stretch>
        </p:blipFill>
        <p:spPr>
          <a:xfrm>
            <a:off x="365760" y="2088766"/>
            <a:ext cx="6675120" cy="2406147"/>
          </a:xfrm>
          <a:prstGeom prst="rect">
            <a:avLst/>
          </a:prstGeom>
        </p:spPr>
      </p:pic>
      <p:sp>
        <p:nvSpPr>
          <p:cNvPr id="5" name="TextBox 4"/>
          <p:cNvSpPr txBox="1"/>
          <p:nvPr/>
        </p:nvSpPr>
        <p:spPr>
          <a:xfrm>
            <a:off x="7223760" y="1188720"/>
            <a:ext cx="3931920" cy="4480560"/>
          </a:xfrm>
          <a:prstGeom prst="rect">
            <a:avLst/>
          </a:prstGeom>
          <a:noFill/>
        </p:spPr>
        <p:txBody>
          <a:bodyPr wrap="square">
            <a:spAutoFit/>
          </a:bodyPr>
          <a:lstStyle/>
          <a:p>
            <a:pPr marL="342900" indent="-285750">
              <a:spcAft>
                <a:spcPts val="800"/>
              </a:spcAft>
              <a:buChar char="•"/>
            </a:pPr>
            <a:r>
              <a:rPr sz="1600" b="0">
                <a:solidFill>
                  <a:srgbClr val="262D34"/>
                </a:solidFill>
                <a:latin typeface="Aptos"/>
              </a:rPr>
              <a:t>Coordination held in </a:t>
            </a:r>
            <a:r>
              <a:rPr sz="1600" b="1">
                <a:solidFill>
                  <a:srgbClr val="262D34"/>
                </a:solidFill>
                <a:latin typeface="Aptos"/>
              </a:rPr>
              <a:t>38 of 39</a:t>
            </a:r>
            <a:r>
              <a:rPr sz="1600" b="0">
                <a:solidFill>
                  <a:srgbClr val="262D34"/>
                </a:solidFill>
                <a:latin typeface="Aptos"/>
              </a:rPr>
              <a:t> cells.</a:t>
            </a:r>
          </a:p>
          <a:p>
            <a:pPr marL="342900" indent="-285750">
              <a:spcAft>
                <a:spcPts val="800"/>
              </a:spcAft>
              <a:buChar char="•"/>
            </a:pPr>
            <a:r>
              <a:rPr sz="1600" b="0">
                <a:solidFill>
                  <a:srgbClr val="262D34"/>
                </a:solidFill>
                <a:latin typeface="Aptos"/>
              </a:rPr>
              <a:t>Same fuses with a single-setting R2: 31 cells.</a:t>
            </a:r>
          </a:p>
          <a:p>
            <a:pPr marL="342900" indent="-285750">
              <a:spcAft>
                <a:spcPts val="800"/>
              </a:spcAft>
              <a:buChar char="•"/>
            </a:pPr>
            <a:r>
              <a:rPr sz="1600" b="0">
                <a:solidFill>
                  <a:srgbClr val="262D34"/>
                </a:solidFill>
                <a:latin typeface="Aptos"/>
              </a:rPr>
              <a:t>The dual setting restores </a:t>
            </a:r>
            <a:r>
              <a:rPr sz="1600" b="1">
                <a:solidFill>
                  <a:srgbClr val="262D34"/>
                </a:solidFill>
                <a:latin typeface="Aptos"/>
              </a:rPr>
              <a:t>7 cells</a:t>
            </a:r>
            <a:r>
              <a:rPr sz="1600" b="0">
                <a:solidFill>
                  <a:srgbClr val="262D34"/>
                </a:solidFill>
                <a:latin typeface="Aptos"/>
              </a:rPr>
              <a:t>: all faults at 633 and the LG faults at 645, 646 and DL.</a:t>
            </a:r>
          </a:p>
          <a:p>
            <a:pPr marL="342900" indent="-285750">
              <a:spcAft>
                <a:spcPts val="800"/>
              </a:spcAft>
              <a:buChar char="•"/>
            </a:pPr>
            <a:r>
              <a:rPr sz="1600" b="0">
                <a:solidFill>
                  <a:srgbClr val="262D34"/>
                </a:solidFill>
                <a:latin typeface="Aptos"/>
              </a:rPr>
              <a:t>Still lost: LG fault at 692 – the 400E fuse F671-1 clears after R2's delayed trip (7.6 s vs 4.0 s); the delayed dial is already at its maximum.</a:t>
            </a:r>
          </a:p>
        </p:txBody>
      </p:sp>
      <p:sp>
        <p:nvSpPr>
          <p:cNvPr id="6" name="TextBox 5"/>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17/30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5. Results: Bolted LL Fault at 646 with the DSDR</a:t>
            </a:r>
          </a:p>
        </p:txBody>
      </p:sp>
      <p:pic>
        <p:nvPicPr>
          <p:cNvPr id="4" name="Picture 3" descr="fig15.png"/>
          <p:cNvPicPr>
            <a:picLocks noChangeAspect="1"/>
          </p:cNvPicPr>
          <p:nvPr/>
        </p:nvPicPr>
        <p:blipFill>
          <a:blip r:embed="rId2"/>
          <a:stretch>
            <a:fillRect/>
          </a:stretch>
        </p:blipFill>
        <p:spPr>
          <a:xfrm>
            <a:off x="411480" y="966354"/>
            <a:ext cx="5577840" cy="4056610"/>
          </a:xfrm>
          <a:prstGeom prst="rect">
            <a:avLst/>
          </a:prstGeom>
        </p:spPr>
      </p:pic>
      <p:pic>
        <p:nvPicPr>
          <p:cNvPr id="5" name="Picture 4" descr="fig16.png"/>
          <p:cNvPicPr>
            <a:picLocks noChangeAspect="1"/>
          </p:cNvPicPr>
          <p:nvPr/>
        </p:nvPicPr>
        <p:blipFill>
          <a:blip r:embed="rId3"/>
          <a:stretch>
            <a:fillRect/>
          </a:stretch>
        </p:blipFill>
        <p:spPr>
          <a:xfrm>
            <a:off x="6172200" y="966354"/>
            <a:ext cx="5577840" cy="4056610"/>
          </a:xfrm>
          <a:prstGeom prst="rect">
            <a:avLst/>
          </a:prstGeom>
        </p:spPr>
      </p:pic>
      <p:sp>
        <p:nvSpPr>
          <p:cNvPr id="6" name="TextBox 5"/>
          <p:cNvSpPr txBox="1"/>
          <p:nvPr/>
        </p:nvSpPr>
        <p:spPr>
          <a:xfrm>
            <a:off x="411480" y="4983480"/>
            <a:ext cx="5577840" cy="320040"/>
          </a:xfrm>
          <a:prstGeom prst="rect">
            <a:avLst/>
          </a:prstGeom>
          <a:noFill/>
        </p:spPr>
        <p:txBody>
          <a:bodyPr wrap="none">
            <a:spAutoFit/>
          </a:bodyPr>
          <a:lstStyle/>
          <a:p>
            <a:pPr algn="ctr"/>
            <a:r>
              <a:rPr sz="1200" i="1">
                <a:solidFill>
                  <a:srgbClr val="6B727A"/>
                </a:solidFill>
                <a:latin typeface="Aptos"/>
              </a:rPr>
              <a:t>R2 reverse (DG share, 1114 A): fast 0.086 s</a:t>
            </a:r>
          </a:p>
        </p:txBody>
      </p:sp>
      <p:sp>
        <p:nvSpPr>
          <p:cNvPr id="7" name="TextBox 6"/>
          <p:cNvSpPr txBox="1"/>
          <p:nvPr/>
        </p:nvSpPr>
        <p:spPr>
          <a:xfrm>
            <a:off x="6172200" y="4983480"/>
            <a:ext cx="5577840" cy="320040"/>
          </a:xfrm>
          <a:prstGeom prst="rect">
            <a:avLst/>
          </a:prstGeom>
          <a:noFill/>
        </p:spPr>
        <p:txBody>
          <a:bodyPr wrap="none">
            <a:spAutoFit/>
          </a:bodyPr>
          <a:lstStyle/>
          <a:p>
            <a:pPr algn="ctr"/>
            <a:r>
              <a:rPr sz="1200" i="1">
                <a:solidFill>
                  <a:srgbClr val="6B727A"/>
                </a:solidFill>
                <a:latin typeface="Aptos"/>
              </a:rPr>
              <a:t>R1 (grid share, 2785 A): fast 0.189 s</a:t>
            </a:r>
          </a:p>
        </p:txBody>
      </p:sp>
      <p:sp>
        <p:nvSpPr>
          <p:cNvPr id="8" name="TextBox 7"/>
          <p:cNvSpPr txBox="1"/>
          <p:nvPr/>
        </p:nvSpPr>
        <p:spPr>
          <a:xfrm>
            <a:off x="685800" y="5349240"/>
            <a:ext cx="10789920" cy="548640"/>
          </a:xfrm>
          <a:prstGeom prst="rect">
            <a:avLst/>
          </a:prstGeom>
          <a:noFill/>
        </p:spPr>
        <p:txBody>
          <a:bodyPr wrap="square">
            <a:spAutoFit/>
          </a:bodyPr>
          <a:lstStyle/>
          <a:p>
            <a:pPr>
              <a:spcAft>
                <a:spcPts val="800"/>
              </a:spcAft>
            </a:pPr>
            <a:r>
              <a:rPr sz="1400" b="0">
                <a:solidFill>
                  <a:srgbClr val="262D34"/>
                </a:solidFill>
                <a:latin typeface="Aptos"/>
              </a:rPr>
              <a:t>The fuses carry 3.67 kA (grid + DG). Both reclosers trip before F646 (400E) starts to melt at </a:t>
            </a:r>
            <a:r>
              <a:rPr sz="1400" b="1">
                <a:solidFill>
                  <a:srgbClr val="262D34"/>
                </a:solidFill>
                <a:latin typeface="Aptos"/>
              </a:rPr>
              <a:t>0.415 s</a:t>
            </a:r>
            <a:r>
              <a:rPr sz="1400" b="0">
                <a:solidFill>
                  <a:srgbClr val="262D34"/>
                </a:solidFill>
                <a:latin typeface="Aptos"/>
              </a:rPr>
              <a:t>: R2 removes the DG share, R1 the grid share – fuse saved.</a:t>
            </a:r>
          </a:p>
        </p:txBody>
      </p:sp>
      <p:sp>
        <p:nvSpPr>
          <p:cNvPr id="9" name="TextBox 8"/>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18/30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5. Results: Operating Times with the DSDR (DG in)</a:t>
            </a:r>
          </a:p>
        </p:txBody>
      </p:sp>
      <p:graphicFrame>
        <p:nvGraphicFramePr>
          <p:cNvPr id="4" name="Table 3"/>
          <p:cNvGraphicFramePr>
            <a:graphicFrameLocks noGrp="1"/>
          </p:cNvGraphicFramePr>
          <p:nvPr/>
        </p:nvGraphicFramePr>
        <p:xfrm>
          <a:off x="411480" y="1005840"/>
          <a:ext cx="11338558" cy="4219956"/>
        </p:xfrm>
        <a:graphic>
          <a:graphicData uri="http://schemas.openxmlformats.org/drawingml/2006/table">
            <a:tbl>
              <a:tblPr firstRow="0" bandRow="0">
                <a:tableStyleId>{5940675A-B579-460E-94D1-54222C63F5DA}</a:tableStyleId>
              </a:tblPr>
              <a:tblGrid>
                <a:gridCol w="836451"/>
                <a:gridCol w="836451"/>
                <a:gridCol w="1022329"/>
                <a:gridCol w="1765841"/>
                <a:gridCol w="1208207"/>
                <a:gridCol w="1765841"/>
                <a:gridCol w="1115268"/>
                <a:gridCol w="1022329"/>
                <a:gridCol w="1765841"/>
              </a:tblGrid>
              <a:tr h="324612">
                <a:tc>
                  <a:txBody>
                    <a:bodyPr wrap="square"/>
                    <a:lstStyle/>
                    <a:p>
                      <a:pPr algn="l"/>
                      <a:r>
                        <a:rPr sz="1150" b="1">
                          <a:solidFill>
                            <a:srgbClr val="1B3755"/>
                          </a:solidFill>
                          <a:latin typeface="Aptos"/>
                        </a:rPr>
                        <a:t>Node</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1">
                          <a:solidFill>
                            <a:srgbClr val="1B3755"/>
                          </a:solidFill>
                          <a:latin typeface="Aptos"/>
                        </a:rPr>
                        <a:t>Fault</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1">
                          <a:solidFill>
                            <a:srgbClr val="1B3755"/>
                          </a:solidFill>
                          <a:latin typeface="Aptos"/>
                        </a:rPr>
                        <a:t>I R1 (A)</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1">
                          <a:solidFill>
                            <a:srgbClr val="1B3755"/>
                          </a:solidFill>
                          <a:latin typeface="Aptos"/>
                        </a:rPr>
                        <a:t>R1 fast / delayed (s)</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1">
                          <a:solidFill>
                            <a:srgbClr val="1B3755"/>
                          </a:solidFill>
                          <a:latin typeface="Aptos"/>
                        </a:rPr>
                        <a:t>I R2 (A)</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1">
                          <a:solidFill>
                            <a:srgbClr val="1B3755"/>
                          </a:solidFill>
                          <a:latin typeface="Aptos"/>
                        </a:rPr>
                        <a:t>R2 fast / delayed (s)</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1">
                          <a:solidFill>
                            <a:srgbClr val="1B3755"/>
                          </a:solidFill>
                          <a:latin typeface="Aptos"/>
                        </a:rPr>
                        <a:t>Fuse</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1">
                          <a:solidFill>
                            <a:srgbClr val="1B3755"/>
                          </a:solidFill>
                          <a:latin typeface="Aptos"/>
                        </a:rPr>
                        <a:t>I fuse (A)</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1">
                          <a:solidFill>
                            <a:srgbClr val="1B3755"/>
                          </a:solidFill>
                          <a:latin typeface="Aptos"/>
                        </a:rPr>
                        <a:t>Fuse MMT / TCT (s)</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24612">
                <a:tc>
                  <a:txBody>
                    <a:bodyPr wrap="square"/>
                    <a:lstStyle/>
                    <a:p>
                      <a:pPr algn="l"/>
                      <a:r>
                        <a:rPr sz="1150" b="0">
                          <a:solidFill>
                            <a:srgbClr val="262D34"/>
                          </a:solidFill>
                          <a:latin typeface="Aptos"/>
                        </a:rPr>
                        <a:t>632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LLL</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4734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0.081 / 1.627</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1813 rev</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0.051 / 1.416</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24612">
                <a:tc>
                  <a:txBody>
                    <a:bodyPr wrap="square"/>
                    <a:lstStyle/>
                    <a:p>
                      <a:pPr algn="l"/>
                      <a:r>
                        <a:rPr sz="1150" b="0">
                          <a:solidFill>
                            <a:srgbClr val="262D34"/>
                          </a:solidFill>
                          <a:latin typeface="Aptos"/>
                        </a:rPr>
                        <a:t>633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LLL</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3970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0.106 / 2.111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1500 rev</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0.060 / 2.001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F633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5426</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0.149 / 0.235</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24612">
                <a:tc>
                  <a:txBody>
                    <a:bodyPr wrap="square"/>
                    <a:lstStyle/>
                    <a:p>
                      <a:pPr algn="l"/>
                      <a:r>
                        <a:rPr sz="1150" b="0">
                          <a:solidFill>
                            <a:srgbClr val="262D34"/>
                          </a:solidFill>
                          <a:latin typeface="Aptos"/>
                        </a:rPr>
                        <a:t>645</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LL</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3124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0.155 / 3.095</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1232 rev</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0.075 / 3.002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F632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4191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0.613 / 0.970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24612">
                <a:tc>
                  <a:txBody>
                    <a:bodyPr wrap="square"/>
                    <a:lstStyle/>
                    <a:p>
                      <a:pPr algn="l"/>
                      <a:r>
                        <a:rPr sz="1150" b="0">
                          <a:solidFill>
                            <a:srgbClr val="262D34"/>
                          </a:solidFill>
                          <a:latin typeface="Aptos"/>
                        </a:rPr>
                        <a:t>646</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LL</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2785</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0.189 / 3.770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1114 rev</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0.086 / 3.771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F646</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3672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0.415 / 0.684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24612">
                <a:tc>
                  <a:txBody>
                    <a:bodyPr wrap="square"/>
                    <a:lstStyle/>
                    <a:p>
                      <a:pPr algn="l"/>
                      <a:r>
                        <a:rPr sz="1150" b="0">
                          <a:solidFill>
                            <a:srgbClr val="262D34"/>
                          </a:solidFill>
                          <a:latin typeface="Aptos"/>
                        </a:rPr>
                        <a:t>DL</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LLL</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3954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0.106 / 2.123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1972 rev</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0.048 / 1.213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F-DL</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5902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0.121 / 0.193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24612">
                <a:tc>
                  <a:txBody>
                    <a:bodyPr wrap="square"/>
                    <a:lstStyle/>
                    <a:p>
                      <a:pPr algn="l"/>
                      <a:r>
                        <a:rPr sz="1150" b="0">
                          <a:solidFill>
                            <a:srgbClr val="262D34"/>
                          </a:solidFill>
                          <a:latin typeface="Aptos"/>
                        </a:rPr>
                        <a:t>671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LLL</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3412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0.134 / 2.677</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3391 fwd</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0.054 / 1.600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24612">
                <a:tc>
                  <a:txBody>
                    <a:bodyPr wrap="square"/>
                    <a:lstStyle/>
                    <a:p>
                      <a:pPr algn="l"/>
                      <a:r>
                        <a:rPr sz="1150" b="0">
                          <a:solidFill>
                            <a:srgbClr val="262D34"/>
                          </a:solidFill>
                          <a:latin typeface="Aptos"/>
                        </a:rPr>
                        <a:t>692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LLL</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3412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0.134 / 2.677</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3391 fwd</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0.054 / 1.600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F671-1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3391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0.525 / 0.891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24612">
                <a:tc>
                  <a:txBody>
                    <a:bodyPr wrap="square"/>
                    <a:lstStyle/>
                    <a:p>
                      <a:pPr algn="l"/>
                      <a:r>
                        <a:rPr sz="1150" b="0">
                          <a:solidFill>
                            <a:srgbClr val="262D34"/>
                          </a:solidFill>
                          <a:latin typeface="Aptos"/>
                        </a:rPr>
                        <a:t>675</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LLL</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3090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0.158 / 3.152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3050 fwd</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0.059 / 1.941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F692-R</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5022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0.065 / 0.106</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24612">
                <a:tc>
                  <a:txBody>
                    <a:bodyPr wrap="square"/>
                    <a:lstStyle/>
                    <a:p>
                      <a:pPr algn="l"/>
                      <a:r>
                        <a:rPr sz="1150" b="0">
                          <a:solidFill>
                            <a:srgbClr val="262D34"/>
                          </a:solidFill>
                          <a:latin typeface="Aptos"/>
                        </a:rPr>
                        <a:t>684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LL</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2543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0.222 / 4.437</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2543 fwd</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0.072 / 2.813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F671-2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3963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0.148 / 0.230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24612">
                <a:tc>
                  <a:txBody>
                    <a:bodyPr wrap="square"/>
                    <a:lstStyle/>
                    <a:p>
                      <a:pPr algn="l"/>
                      <a:r>
                        <a:rPr sz="1150" b="0">
                          <a:solidFill>
                            <a:srgbClr val="262D34"/>
                          </a:solidFill>
                          <a:latin typeface="Aptos"/>
                        </a:rPr>
                        <a:t>680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LLL</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2789</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0.188 / 3.761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2757 fwd</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0.066 / 2.381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24612">
                <a:tc>
                  <a:txBody>
                    <a:bodyPr wrap="square"/>
                    <a:lstStyle/>
                    <a:p>
                      <a:pPr algn="l"/>
                      <a:r>
                        <a:rPr sz="1150" b="0">
                          <a:solidFill>
                            <a:srgbClr val="262D34"/>
                          </a:solidFill>
                          <a:latin typeface="Aptos"/>
                        </a:rPr>
                        <a:t>611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LG</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1814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0.435 / 8.709</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1718 fwd</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0.128 / 6.986</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F684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2236</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0.271 / 0.414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24612">
                <a:tc>
                  <a:txBody>
                    <a:bodyPr wrap="square"/>
                    <a:lstStyle/>
                    <a:p>
                      <a:pPr algn="l"/>
                      <a:r>
                        <a:rPr sz="1150" b="0">
                          <a:solidFill>
                            <a:srgbClr val="262D34"/>
                          </a:solidFill>
                          <a:latin typeface="Aptos"/>
                        </a:rPr>
                        <a:t>652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LG</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1795</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0.446 / 8.919</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1761 fwd</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0.123 / 6.570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F652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2239</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150" b="0">
                          <a:solidFill>
                            <a:srgbClr val="262D34"/>
                          </a:solidFill>
                          <a:latin typeface="Aptos"/>
                        </a:rPr>
                        <a:t>0.138 / 0.193</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bl>
          </a:graphicData>
        </a:graphic>
      </p:graphicFrame>
      <p:sp>
        <p:nvSpPr>
          <p:cNvPr id="5" name="TextBox 4"/>
          <p:cNvSpPr txBox="1"/>
          <p:nvPr/>
        </p:nvSpPr>
        <p:spPr>
          <a:xfrm>
            <a:off x="411480" y="5349240"/>
            <a:ext cx="11338560" cy="320040"/>
          </a:xfrm>
          <a:prstGeom prst="rect">
            <a:avLst/>
          </a:prstGeom>
          <a:noFill/>
        </p:spPr>
        <p:txBody>
          <a:bodyPr wrap="none">
            <a:spAutoFit/>
          </a:bodyPr>
          <a:lstStyle/>
          <a:p>
            <a:pPr algn="ctr"/>
            <a:r>
              <a:rPr sz="1200" i="1">
                <a:solidFill>
                  <a:srgbClr val="6B727A"/>
                </a:solidFill>
                <a:latin typeface="Aptos"/>
              </a:rPr>
              <a:t>Bolted LLL (LL at two-phase, LG at one-phase nodes). Every fuse starts to melt after the last fast trip; smallest margins 6 ms (675) and 15 ms (DL)</a:t>
            </a:r>
          </a:p>
        </p:txBody>
      </p:sp>
      <p:sp>
        <p:nvSpPr>
          <p:cNvPr id="6" name="TextBox 5"/>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19/30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5. Results: Single vs Dual Setting (3-phase fault near 632)</a:t>
            </a:r>
          </a:p>
        </p:txBody>
      </p:sp>
      <p:pic>
        <p:nvPicPr>
          <p:cNvPr id="4" name="Picture 3" descr="case05.png"/>
          <p:cNvPicPr>
            <a:picLocks noChangeAspect="1"/>
          </p:cNvPicPr>
          <p:nvPr/>
        </p:nvPicPr>
        <p:blipFill>
          <a:blip r:embed="rId2"/>
          <a:stretch>
            <a:fillRect/>
          </a:stretch>
        </p:blipFill>
        <p:spPr>
          <a:xfrm>
            <a:off x="2151380" y="1005840"/>
            <a:ext cx="6852920" cy="3246120"/>
          </a:xfrm>
          <a:prstGeom prst="rect">
            <a:avLst/>
          </a:prstGeom>
        </p:spPr>
      </p:pic>
      <p:graphicFrame>
        <p:nvGraphicFramePr>
          <p:cNvPr id="5" name="Table 4"/>
          <p:cNvGraphicFramePr>
            <a:graphicFrameLocks noGrp="1"/>
          </p:cNvGraphicFramePr>
          <p:nvPr/>
        </p:nvGraphicFramePr>
        <p:xfrm>
          <a:off x="1280160" y="4297680"/>
          <a:ext cx="8595360" cy="1536192"/>
        </p:xfrm>
        <a:graphic>
          <a:graphicData uri="http://schemas.openxmlformats.org/drawingml/2006/table">
            <a:tbl>
              <a:tblPr firstRow="0" bandRow="0">
                <a:tableStyleId>{5940675A-B579-460E-94D1-54222C63F5DA}</a:tableStyleId>
              </a:tblPr>
              <a:tblGrid>
                <a:gridCol w="2865120"/>
                <a:gridCol w="3044190"/>
                <a:gridCol w="2686050"/>
              </a:tblGrid>
              <a:tr h="256032">
                <a:tc>
                  <a:txBody>
                    <a:bodyPr wrap="square"/>
                    <a:lstStyle/>
                    <a:p>
                      <a:pPr algn="l"/>
                      <a:r>
                        <a:rPr sz="1200" b="1">
                          <a:solidFill>
                            <a:srgbClr val="1B3755"/>
                          </a:solidFill>
                          <a:latin typeface="Aptos"/>
                        </a:rPr>
                        <a:t>Quantity</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1">
                          <a:solidFill>
                            <a:srgbClr val="1B3755"/>
                          </a:solidFill>
                          <a:latin typeface="Aptos"/>
                        </a:rPr>
                        <a:t>Single setting</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1">
                          <a:solidFill>
                            <a:srgbClr val="1B3755"/>
                          </a:solidFill>
                          <a:latin typeface="Aptos"/>
                        </a:rPr>
                        <a:t>Dual setting (DSDR)</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256032">
                <a:tc>
                  <a:txBody>
                    <a:bodyPr wrap="square"/>
                    <a:lstStyle/>
                    <a:p>
                      <a:pPr algn="l"/>
                      <a:r>
                        <a:rPr sz="1200" b="0">
                          <a:solidFill>
                            <a:srgbClr val="262D34"/>
                          </a:solidFill>
                          <a:latin typeface="Aptos"/>
                        </a:rPr>
                        <a:t>Current through R2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1777 A, reverse (DG contribution)</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1777 A, reverse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256032">
                <a:tc>
                  <a:txBody>
                    <a:bodyPr wrap="square"/>
                    <a:lstStyle/>
                    <a:p>
                      <a:pPr algn="l"/>
                      <a:r>
                        <a:rPr sz="1200" b="0">
                          <a:solidFill>
                            <a:srgbClr val="262D34"/>
                          </a:solidFill>
                          <a:latin typeface="Aptos"/>
                        </a:rPr>
                        <a:t>R2 setting used</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Forward: plug 300/600 A</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Reverse: plug 150/300 A</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256032">
                <a:tc>
                  <a:txBody>
                    <a:bodyPr wrap="square"/>
                    <a:lstStyle/>
                    <a:p>
                      <a:pPr algn="l"/>
                      <a:r>
                        <a:rPr sz="1200" b="0">
                          <a:solidFill>
                            <a:srgbClr val="262D34"/>
                          </a:solidFill>
                          <a:latin typeface="Aptos"/>
                        </a:rPr>
                        <a:t>R2 fast trip</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0.121 s</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0.052 s</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256032">
                <a:tc>
                  <a:txBody>
                    <a:bodyPr wrap="square"/>
                    <a:lstStyle/>
                    <a:p>
                      <a:pPr algn="l"/>
                      <a:r>
                        <a:rPr sz="1200" b="0">
                          <a:solidFill>
                            <a:srgbClr val="262D34"/>
                          </a:solidFill>
                          <a:latin typeface="Aptos"/>
                        </a:rPr>
                        <a:t>F633 (400E) starts to melt</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0.100 s</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0.100 s</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256032">
                <a:tc>
                  <a:txBody>
                    <a:bodyPr wrap="square"/>
                    <a:lstStyle/>
                    <a:p>
                      <a:pPr algn="l"/>
                      <a:r>
                        <a:rPr sz="1200" b="0">
                          <a:solidFill>
                            <a:srgbClr val="262D34"/>
                          </a:solidFill>
                          <a:latin typeface="Aptos"/>
                        </a:rPr>
                        <a:t>Fuse saving</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1">
                          <a:solidFill>
                            <a:srgbClr val="C62828"/>
                          </a:solidFill>
                          <a:latin typeface="Aptos"/>
                        </a:rPr>
                        <a:t>LOST</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1">
                          <a:solidFill>
                            <a:srgbClr val="2E7D32"/>
                          </a:solidFill>
                          <a:latin typeface="Aptos"/>
                        </a:rPr>
                        <a:t>HELD</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bl>
          </a:graphicData>
        </a:graphic>
      </p:graphicFrame>
      <p:sp>
        <p:nvSpPr>
          <p:cNvPr id="6" name="TextBox 5"/>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20/30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5. Results: Time-Sequence Check of All Faults</a:t>
            </a:r>
          </a:p>
        </p:txBody>
      </p:sp>
      <p:pic>
        <p:nvPicPr>
          <p:cNvPr id="4" name="Picture 3" descr="cd_sequence.png"/>
          <p:cNvPicPr>
            <a:picLocks noChangeAspect="1"/>
          </p:cNvPicPr>
          <p:nvPr/>
        </p:nvPicPr>
        <p:blipFill>
          <a:blip r:embed="rId2"/>
          <a:stretch>
            <a:fillRect/>
          </a:stretch>
        </p:blipFill>
        <p:spPr>
          <a:xfrm>
            <a:off x="365760" y="1010256"/>
            <a:ext cx="6949439" cy="4837486"/>
          </a:xfrm>
          <a:prstGeom prst="rect">
            <a:avLst/>
          </a:prstGeom>
        </p:spPr>
      </p:pic>
      <p:sp>
        <p:nvSpPr>
          <p:cNvPr id="5" name="TextBox 4"/>
          <p:cNvSpPr txBox="1"/>
          <p:nvPr/>
        </p:nvSpPr>
        <p:spPr>
          <a:xfrm>
            <a:off x="7498079" y="1188720"/>
            <a:ext cx="3657600" cy="4480560"/>
          </a:xfrm>
          <a:prstGeom prst="rect">
            <a:avLst/>
          </a:prstGeom>
          <a:noFill/>
        </p:spPr>
        <p:txBody>
          <a:bodyPr wrap="square">
            <a:spAutoFit/>
          </a:bodyPr>
          <a:lstStyle/>
          <a:p>
            <a:pPr marL="342900" indent="-285750">
              <a:spcAft>
                <a:spcPts val="800"/>
              </a:spcAft>
              <a:buChar char="•"/>
            </a:pPr>
            <a:r>
              <a:rPr sz="1500" b="0">
                <a:solidFill>
                  <a:srgbClr val="262D34"/>
                </a:solidFill>
                <a:latin typeface="Aptos"/>
              </a:rPr>
              <a:t>Each fault followed in time: the fuse heats while current flows after each recloser opens.</a:t>
            </a:r>
          </a:p>
          <a:p>
            <a:pPr marL="342900" indent="-285750">
              <a:spcAft>
                <a:spcPts val="800"/>
              </a:spcAft>
              <a:buChar char="•"/>
            </a:pPr>
            <a:r>
              <a:rPr sz="1500" b="0">
                <a:solidFill>
                  <a:srgbClr val="262D34"/>
                </a:solidFill>
                <a:latin typeface="Aptos"/>
              </a:rPr>
              <a:t>Above R2: </a:t>
            </a:r>
            <a:r>
              <a:rPr sz="1500" b="1">
                <a:solidFill>
                  <a:srgbClr val="262D34"/>
                </a:solidFill>
                <a:latin typeface="Aptos"/>
              </a:rPr>
              <a:t>15 of 18</a:t>
            </a:r>
            <a:r>
              <a:rPr sz="1500" b="0">
                <a:solidFill>
                  <a:srgbClr val="262D34"/>
                </a:solidFill>
                <a:latin typeface="Aptos"/>
              </a:rPr>
              <a:t> held with a single setting, </a:t>
            </a:r>
            <a:r>
              <a:rPr sz="1500" b="1">
                <a:solidFill>
                  <a:srgbClr val="262D34"/>
                </a:solidFill>
                <a:latin typeface="Aptos"/>
              </a:rPr>
              <a:t>18 of 18</a:t>
            </a:r>
            <a:r>
              <a:rPr sz="1500" b="0">
                <a:solidFill>
                  <a:srgbClr val="262D34"/>
                </a:solidFill>
                <a:latin typeface="Aptos"/>
              </a:rPr>
              <a:t> with the DSDR.</a:t>
            </a:r>
          </a:p>
          <a:p>
            <a:pPr marL="342900" indent="-285750">
              <a:spcAft>
                <a:spcPts val="800"/>
              </a:spcAft>
              <a:buChar char="•"/>
            </a:pPr>
            <a:r>
              <a:rPr sz="1500" b="0">
                <a:solidFill>
                  <a:srgbClr val="262D34"/>
                </a:solidFill>
                <a:latin typeface="Aptos"/>
              </a:rPr>
              <a:t>Restored: LG faults at 633, 645 and 646.</a:t>
            </a:r>
          </a:p>
          <a:p>
            <a:pPr marL="342900" indent="-285750">
              <a:spcAft>
                <a:spcPts val="800"/>
              </a:spcAft>
              <a:buChar char="•"/>
            </a:pPr>
            <a:r>
              <a:rPr sz="1500" b="0">
                <a:solidFill>
                  <a:srgbClr val="262D34"/>
                </a:solidFill>
                <a:latin typeface="Aptos"/>
              </a:rPr>
              <a:t>Below R2 the DG feeds the fault directly: the setting of R2 makes no difference.</a:t>
            </a:r>
          </a:p>
        </p:txBody>
      </p:sp>
      <p:sp>
        <p:nvSpPr>
          <p:cNvPr id="6" name="TextBox 5"/>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21/30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5. Results: Time-Domain (EMT) Verification</a:t>
            </a:r>
          </a:p>
        </p:txBody>
      </p:sp>
      <p:pic>
        <p:nvPicPr>
          <p:cNvPr id="4" name="Picture 3" descr="fig10.png"/>
          <p:cNvPicPr>
            <a:picLocks noChangeAspect="1"/>
          </p:cNvPicPr>
          <p:nvPr/>
        </p:nvPicPr>
        <p:blipFill>
          <a:blip r:embed="rId2"/>
          <a:stretch>
            <a:fillRect/>
          </a:stretch>
        </p:blipFill>
        <p:spPr>
          <a:xfrm>
            <a:off x="491121" y="1005840"/>
            <a:ext cx="5784317" cy="4846320"/>
          </a:xfrm>
          <a:prstGeom prst="rect">
            <a:avLst/>
          </a:prstGeom>
        </p:spPr>
      </p:pic>
      <p:graphicFrame>
        <p:nvGraphicFramePr>
          <p:cNvPr id="5" name="Table 4"/>
          <p:cNvGraphicFramePr>
            <a:graphicFrameLocks noGrp="1"/>
          </p:cNvGraphicFramePr>
          <p:nvPr/>
        </p:nvGraphicFramePr>
        <p:xfrm>
          <a:off x="6583680" y="1234440"/>
          <a:ext cx="4480560" cy="1152144"/>
        </p:xfrm>
        <a:graphic>
          <a:graphicData uri="http://schemas.openxmlformats.org/drawingml/2006/table">
            <a:tbl>
              <a:tblPr firstRow="0" bandRow="0">
                <a:tableStyleId>{5940675A-B579-460E-94D1-54222C63F5DA}</a:tableStyleId>
              </a:tblPr>
              <a:tblGrid>
                <a:gridCol w="1680210"/>
                <a:gridCol w="1400175"/>
                <a:gridCol w="1400175"/>
              </a:tblGrid>
              <a:tr h="384048">
                <a:tc>
                  <a:txBody>
                    <a:bodyPr wrap="square"/>
                    <a:lstStyle/>
                    <a:p>
                      <a:pPr algn="l"/>
                      <a:r>
                        <a:rPr sz="1300" b="1">
                          <a:solidFill>
                            <a:srgbClr val="1B3755"/>
                          </a:solidFill>
                          <a:latin typeface="Aptos"/>
                        </a:rPr>
                        <a:t>Event</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300" b="1">
                          <a:solidFill>
                            <a:srgbClr val="1B3755"/>
                          </a:solidFill>
                          <a:latin typeface="Aptos"/>
                        </a:rPr>
                        <a:t>Without DG</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300" b="1">
                          <a:solidFill>
                            <a:srgbClr val="1B3755"/>
                          </a:solidFill>
                          <a:latin typeface="Aptos"/>
                        </a:rPr>
                        <a:t>With DG</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84048">
                <a:tc>
                  <a:txBody>
                    <a:bodyPr wrap="square"/>
                    <a:lstStyle/>
                    <a:p>
                      <a:pPr algn="l"/>
                      <a:r>
                        <a:rPr sz="1300" b="0">
                          <a:solidFill>
                            <a:srgbClr val="262D34"/>
                          </a:solidFill>
                          <a:latin typeface="Aptos"/>
                        </a:rPr>
                        <a:t>F671-2 melts</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300" b="0">
                          <a:solidFill>
                            <a:srgbClr val="262D34"/>
                          </a:solidFill>
                          <a:latin typeface="Aptos"/>
                        </a:rPr>
                        <a:t>1.248 s</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300" b="0">
                          <a:solidFill>
                            <a:srgbClr val="262D34"/>
                          </a:solidFill>
                          <a:latin typeface="Aptos"/>
                        </a:rPr>
                        <a:t>0.752 s</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384048">
                <a:tc>
                  <a:txBody>
                    <a:bodyPr wrap="square"/>
                    <a:lstStyle/>
                    <a:p>
                      <a:pPr algn="l"/>
                      <a:r>
                        <a:rPr sz="1300" b="0">
                          <a:solidFill>
                            <a:srgbClr val="262D34"/>
                          </a:solidFill>
                          <a:latin typeface="Aptos"/>
                        </a:rPr>
                        <a:t>F671-2 clears</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300" b="0">
                          <a:solidFill>
                            <a:srgbClr val="262D34"/>
                          </a:solidFill>
                          <a:latin typeface="Aptos"/>
                        </a:rPr>
                        <a:t>1.613 s</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300" b="0">
                          <a:solidFill>
                            <a:srgbClr val="262D34"/>
                          </a:solidFill>
                          <a:latin typeface="Aptos"/>
                        </a:rPr>
                        <a:t>1.253 s</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bl>
          </a:graphicData>
        </a:graphic>
      </p:graphicFrame>
      <p:sp>
        <p:nvSpPr>
          <p:cNvPr id="6" name="TextBox 5"/>
          <p:cNvSpPr txBox="1"/>
          <p:nvPr/>
        </p:nvSpPr>
        <p:spPr>
          <a:xfrm>
            <a:off x="6583680" y="2606040"/>
            <a:ext cx="4480560" cy="3108960"/>
          </a:xfrm>
          <a:prstGeom prst="rect">
            <a:avLst/>
          </a:prstGeom>
          <a:noFill/>
        </p:spPr>
        <p:txBody>
          <a:bodyPr wrap="square">
            <a:spAutoFit/>
          </a:bodyPr>
          <a:lstStyle/>
          <a:p>
            <a:pPr marL="342900" indent="-285750">
              <a:spcAft>
                <a:spcPts val="600"/>
              </a:spcAft>
              <a:buChar char="•"/>
            </a:pPr>
            <a:r>
              <a:rPr sz="1400" b="0">
                <a:solidFill>
                  <a:srgbClr val="262D34"/>
                </a:solidFill>
                <a:latin typeface="Aptos"/>
              </a:rPr>
              <a:t>LL fault (a–c) at 684 through 0.2 Ω, conventional settings.</a:t>
            </a:r>
          </a:p>
          <a:p>
            <a:pPr marL="342900" indent="-285750">
              <a:spcAft>
                <a:spcPts val="600"/>
              </a:spcAft>
              <a:buChar char="•"/>
            </a:pPr>
            <a:r>
              <a:rPr sz="1400" b="0">
                <a:solidFill>
                  <a:srgbClr val="262D34"/>
                </a:solidFill>
                <a:latin typeface="Aptos"/>
              </a:rPr>
              <a:t>Without DG the two fast shots use 45 % of the fuse's melting heat; the fuse then clears the permanent fault.</a:t>
            </a:r>
          </a:p>
          <a:p>
            <a:pPr marL="342900" indent="-285750">
              <a:spcAft>
                <a:spcPts val="600"/>
              </a:spcAft>
              <a:buChar char="•"/>
            </a:pPr>
            <a:r>
              <a:rPr sz="1400" b="0">
                <a:solidFill>
                  <a:srgbClr val="262D34"/>
                </a:solidFill>
                <a:latin typeface="Aptos"/>
              </a:rPr>
              <a:t>With DG the fuse melts during the second fast shot: the DG keeps feeding the fault while R2 is open.</a:t>
            </a:r>
          </a:p>
        </p:txBody>
      </p:sp>
      <p:sp>
        <p:nvSpPr>
          <p:cNvPr id="7" name="TextBox 6"/>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22/30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5. Results: Effect of the DG Penetration Level</a:t>
            </a:r>
          </a:p>
        </p:txBody>
      </p:sp>
      <p:pic>
        <p:nvPicPr>
          <p:cNvPr id="4" name="Picture 3" descr="pen_ring.png"/>
          <p:cNvPicPr>
            <a:picLocks noChangeAspect="1"/>
          </p:cNvPicPr>
          <p:nvPr/>
        </p:nvPicPr>
        <p:blipFill>
          <a:blip r:embed="rId2"/>
          <a:stretch>
            <a:fillRect/>
          </a:stretch>
        </p:blipFill>
        <p:spPr>
          <a:xfrm>
            <a:off x="365760" y="1267097"/>
            <a:ext cx="5486400" cy="4232365"/>
          </a:xfrm>
          <a:prstGeom prst="rect">
            <a:avLst/>
          </a:prstGeom>
        </p:spPr>
      </p:pic>
      <p:sp>
        <p:nvSpPr>
          <p:cNvPr id="5" name="TextBox 4"/>
          <p:cNvSpPr txBox="1"/>
          <p:nvPr/>
        </p:nvSpPr>
        <p:spPr>
          <a:xfrm>
            <a:off x="6035040" y="1188720"/>
            <a:ext cx="5120640" cy="4480560"/>
          </a:xfrm>
          <a:prstGeom prst="rect">
            <a:avLst/>
          </a:prstGeom>
          <a:noFill/>
        </p:spPr>
        <p:txBody>
          <a:bodyPr wrap="square">
            <a:spAutoFit/>
          </a:bodyPr>
          <a:lstStyle/>
          <a:p>
            <a:pPr marL="342900" indent="-285750">
              <a:spcAft>
                <a:spcPts val="600"/>
              </a:spcAft>
              <a:buChar char="•"/>
            </a:pPr>
            <a:r>
              <a:rPr sz="1500" b="0">
                <a:solidFill>
                  <a:srgbClr val="262D34"/>
                </a:solidFill>
                <a:latin typeface="Aptos"/>
              </a:rPr>
              <a:t>Seven PowerFactory models: DG 0, 10, 25, 37, 50, 75, 100 % of 4.05 MVA; settings of the design without DG kept.</a:t>
            </a:r>
          </a:p>
          <a:p>
            <a:pPr marL="342900" indent="-285750">
              <a:spcAft>
                <a:spcPts val="600"/>
              </a:spcAft>
              <a:buChar char="•"/>
            </a:pPr>
            <a:r>
              <a:rPr sz="1500" b="0">
                <a:solidFill>
                  <a:srgbClr val="262D34"/>
                </a:solidFill>
                <a:latin typeface="Aptos"/>
              </a:rPr>
              <a:t>CTI = t_MMT(fuse) − t_fast(recloser):</a:t>
            </a:r>
          </a:p>
          <a:p>
            <a:pPr marL="628650" indent="-285750">
              <a:spcAft>
                <a:spcPts val="600"/>
              </a:spcAft>
              <a:buChar char="–"/>
            </a:pPr>
            <a:r>
              <a:rPr sz="1300" b="0">
                <a:solidFill>
                  <a:srgbClr val="262D34"/>
                </a:solidFill>
                <a:latin typeface="Aptos"/>
              </a:rPr>
              <a:t>node 633: </a:t>
            </a:r>
            <a:r>
              <a:rPr sz="1300" b="1">
                <a:solidFill>
                  <a:srgbClr val="262D34"/>
                </a:solidFill>
                <a:latin typeface="Aptos"/>
              </a:rPr>
              <a:t>+4 ms → −51 ms</a:t>
            </a:r>
          </a:p>
          <a:p>
            <a:pPr marL="628650" indent="-285750">
              <a:spcAft>
                <a:spcPts val="600"/>
              </a:spcAft>
              <a:buChar char="–"/>
            </a:pPr>
            <a:r>
              <a:rPr sz="1300" b="0">
                <a:solidFill>
                  <a:srgbClr val="262D34"/>
                </a:solidFill>
                <a:latin typeface="Aptos"/>
              </a:rPr>
              <a:t>node 671: </a:t>
            </a:r>
            <a:r>
              <a:rPr sz="1300" b="1">
                <a:solidFill>
                  <a:srgbClr val="262D34"/>
                </a:solidFill>
                <a:latin typeface="Aptos"/>
              </a:rPr>
              <a:t>+403 ms → +75 ms</a:t>
            </a:r>
          </a:p>
          <a:p>
            <a:pPr marL="342900" indent="-285750">
              <a:spcAft>
                <a:spcPts val="600"/>
              </a:spcAft>
              <a:buChar char="•"/>
            </a:pPr>
            <a:r>
              <a:rPr sz="1500" b="0">
                <a:solidFill>
                  <a:srgbClr val="262D34"/>
                </a:solidFill>
                <a:latin typeface="Aptos"/>
              </a:rPr>
              <a:t>The fuse carries grid + DG current, the recloser only the grid share: the CTI falls as the DG grows.</a:t>
            </a:r>
          </a:p>
          <a:p>
            <a:pPr marL="342900" indent="-285750">
              <a:spcAft>
                <a:spcPts val="600"/>
              </a:spcAft>
              <a:buChar char="•"/>
            </a:pPr>
            <a:r>
              <a:rPr sz="1500" b="0">
                <a:solidFill>
                  <a:srgbClr val="262D34"/>
                </a:solidFill>
                <a:latin typeface="Aptos"/>
              </a:rPr>
              <a:t>Fault level rises by up to 64 %; R2 stops detecting its weakest fault above about 50 %.</a:t>
            </a:r>
          </a:p>
        </p:txBody>
      </p:sp>
      <p:sp>
        <p:nvSpPr>
          <p:cNvPr id="6" name="TextBox 5"/>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23/30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5. Results: Summary and Verification</a:t>
            </a:r>
          </a:p>
        </p:txBody>
      </p:sp>
      <p:graphicFrame>
        <p:nvGraphicFramePr>
          <p:cNvPr id="4" name="Table 3"/>
          <p:cNvGraphicFramePr>
            <a:graphicFrameLocks noGrp="1"/>
          </p:cNvGraphicFramePr>
          <p:nvPr/>
        </p:nvGraphicFramePr>
        <p:xfrm>
          <a:off x="685800" y="1234440"/>
          <a:ext cx="6400800" cy="2880360"/>
        </p:xfrm>
        <a:graphic>
          <a:graphicData uri="http://schemas.openxmlformats.org/drawingml/2006/table">
            <a:tbl>
              <a:tblPr firstRow="0" bandRow="0">
                <a:tableStyleId>{5940675A-B579-460E-94D1-54222C63F5DA}</a:tableStyleId>
              </a:tblPr>
              <a:tblGrid>
                <a:gridCol w="4754880"/>
                <a:gridCol w="1645920"/>
              </a:tblGrid>
              <a:tr h="411480">
                <a:tc>
                  <a:txBody>
                    <a:bodyPr wrap="square"/>
                    <a:lstStyle/>
                    <a:p>
                      <a:pPr algn="l"/>
                      <a:r>
                        <a:rPr sz="1400" b="1">
                          <a:solidFill>
                            <a:srgbClr val="1B3755"/>
                          </a:solidFill>
                          <a:latin typeface="Aptos"/>
                        </a:rPr>
                        <a:t>Stage</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400" b="1">
                          <a:solidFill>
                            <a:srgbClr val="1B3755"/>
                          </a:solidFill>
                          <a:latin typeface="Aptos"/>
                        </a:rPr>
                        <a:t>Cells held (of 39)</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411480">
                <a:tc>
                  <a:txBody>
                    <a:bodyPr wrap="square"/>
                    <a:lstStyle/>
                    <a:p>
                      <a:pPr algn="l"/>
                      <a:r>
                        <a:rPr sz="1400" b="0">
                          <a:solidFill>
                            <a:srgbClr val="262D34"/>
                          </a:solidFill>
                          <a:latin typeface="Aptos"/>
                        </a:rPr>
                        <a:t>No DG, starting fuse sizes</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400" b="0">
                          <a:solidFill>
                            <a:srgbClr val="262D34"/>
                          </a:solidFill>
                          <a:latin typeface="Aptos"/>
                        </a:rPr>
                        <a:t>35</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411480">
                <a:tc>
                  <a:txBody>
                    <a:bodyPr wrap="square"/>
                    <a:lstStyle/>
                    <a:p>
                      <a:pPr algn="l"/>
                      <a:r>
                        <a:rPr sz="1400" b="0">
                          <a:solidFill>
                            <a:srgbClr val="262D34"/>
                          </a:solidFill>
                          <a:latin typeface="Aptos"/>
                        </a:rPr>
                        <a:t>No DG, after the fuse revision</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400" b="0">
                          <a:solidFill>
                            <a:srgbClr val="262D34"/>
                          </a:solidFill>
                          <a:latin typeface="Aptos"/>
                        </a:rPr>
                        <a:t>39</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411480">
                <a:tc>
                  <a:txBody>
                    <a:bodyPr wrap="square"/>
                    <a:lstStyle/>
                    <a:p>
                      <a:pPr algn="l"/>
                      <a:r>
                        <a:rPr sz="1400" b="0">
                          <a:solidFill>
                            <a:srgbClr val="262D34"/>
                          </a:solidFill>
                          <a:latin typeface="Aptos"/>
                        </a:rPr>
                        <a:t>DG connected, conventional R2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400" b="0">
                          <a:solidFill>
                            <a:srgbClr val="262D34"/>
                          </a:solidFill>
                          <a:latin typeface="Aptos"/>
                        </a:rPr>
                        <a:t>24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411480">
                <a:tc>
                  <a:txBody>
                    <a:bodyPr wrap="square"/>
                    <a:lstStyle/>
                    <a:p>
                      <a:pPr algn="l"/>
                      <a:r>
                        <a:rPr sz="1400" b="0">
                          <a:solidFill>
                            <a:srgbClr val="262D34"/>
                          </a:solidFill>
                          <a:latin typeface="Aptos"/>
                        </a:rPr>
                        <a:t>DG connected, no-DG fuses, R2 as DSDR</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400" b="0">
                          <a:solidFill>
                            <a:srgbClr val="262D34"/>
                          </a:solidFill>
                          <a:latin typeface="Aptos"/>
                        </a:rPr>
                        <a:t>25</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411480">
                <a:tc>
                  <a:txBody>
                    <a:bodyPr wrap="square"/>
                    <a:lstStyle/>
                    <a:p>
                      <a:pPr algn="l"/>
                      <a:r>
                        <a:rPr sz="1400" b="0">
                          <a:solidFill>
                            <a:srgbClr val="262D34"/>
                          </a:solidFill>
                          <a:latin typeface="Aptos"/>
                        </a:rPr>
                        <a:t>DG connected, revised fuses, conventional R2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400" b="0">
                          <a:solidFill>
                            <a:srgbClr val="262D34"/>
                          </a:solidFill>
                          <a:latin typeface="Aptos"/>
                        </a:rPr>
                        <a:t>31</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411480">
                <a:tc>
                  <a:txBody>
                    <a:bodyPr wrap="square"/>
                    <a:lstStyle/>
                    <a:p>
                      <a:pPr algn="l"/>
                      <a:r>
                        <a:rPr sz="1400" b="0">
                          <a:solidFill>
                            <a:srgbClr val="262D34"/>
                          </a:solidFill>
                          <a:latin typeface="Aptos"/>
                        </a:rPr>
                        <a:t>DG connected, revised fuses, R2 as DSDR</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400" b="1">
                          <a:solidFill>
                            <a:srgbClr val="2E7D32"/>
                          </a:solidFill>
                          <a:latin typeface="Aptos"/>
                        </a:rPr>
                        <a:t>38</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bl>
          </a:graphicData>
        </a:graphic>
      </p:graphicFrame>
      <p:sp>
        <p:nvSpPr>
          <p:cNvPr id="5" name="TextBox 4"/>
          <p:cNvSpPr txBox="1"/>
          <p:nvPr/>
        </p:nvSpPr>
        <p:spPr>
          <a:xfrm>
            <a:off x="7360920" y="1188720"/>
            <a:ext cx="3840480" cy="4480560"/>
          </a:xfrm>
          <a:prstGeom prst="rect">
            <a:avLst/>
          </a:prstGeom>
          <a:noFill/>
        </p:spPr>
        <p:txBody>
          <a:bodyPr wrap="square">
            <a:spAutoFit/>
          </a:bodyPr>
          <a:lstStyle/>
          <a:p>
            <a:pPr marL="342900" indent="-285750">
              <a:spcAft>
                <a:spcPts val="1000"/>
              </a:spcAft>
              <a:buChar char="•"/>
            </a:pPr>
            <a:r>
              <a:rPr sz="1500" b="0">
                <a:solidFill>
                  <a:srgbClr val="262D34"/>
                </a:solidFill>
                <a:latin typeface="Aptos"/>
              </a:rPr>
              <a:t>PowerFactory's own relay and fuse models reproduce the calculated operating times within </a:t>
            </a:r>
            <a:r>
              <a:rPr sz="1500" b="1">
                <a:solidFill>
                  <a:srgbClr val="262D34"/>
                </a:solidFill>
                <a:latin typeface="Aptos"/>
              </a:rPr>
              <a:t>1.22 %</a:t>
            </a:r>
            <a:r>
              <a:rPr sz="1500" b="0">
                <a:solidFill>
                  <a:srgbClr val="262D34"/>
                </a:solidFill>
                <a:latin typeface="Aptos"/>
              </a:rPr>
              <a:t> (1896 operating times).</a:t>
            </a:r>
          </a:p>
          <a:p>
            <a:pPr marL="342900" indent="-285750">
              <a:spcAft>
                <a:spcPts val="1000"/>
              </a:spcAft>
              <a:buChar char="•"/>
            </a:pPr>
            <a:r>
              <a:rPr sz="1500" b="0">
                <a:solidFill>
                  <a:srgbClr val="262D34"/>
                </a:solidFill>
                <a:latin typeface="Aptos"/>
              </a:rPr>
              <a:t>With a breaker time of 3 cycles: 31 cells held; with a fuse safety margin as well: 26.</a:t>
            </a:r>
          </a:p>
        </p:txBody>
      </p:sp>
      <p:sp>
        <p:nvSpPr>
          <p:cNvPr id="6" name="TextBox 5"/>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24/30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6. Conclusions and Future Work</a:t>
            </a:r>
          </a:p>
        </p:txBody>
      </p:sp>
      <p:sp>
        <p:nvSpPr>
          <p:cNvPr id="4" name="TextBox 3"/>
          <p:cNvSpPr txBox="1"/>
          <p:nvPr/>
        </p:nvSpPr>
        <p:spPr>
          <a:xfrm>
            <a:off x="685800" y="1143000"/>
            <a:ext cx="10424160" cy="3200400"/>
          </a:xfrm>
          <a:prstGeom prst="rect">
            <a:avLst/>
          </a:prstGeom>
          <a:noFill/>
        </p:spPr>
        <p:txBody>
          <a:bodyPr wrap="square">
            <a:spAutoFit/>
          </a:bodyPr>
          <a:lstStyle/>
          <a:p>
            <a:pPr marL="342900" indent="-285750">
              <a:spcAft>
                <a:spcPts val="700"/>
              </a:spcAft>
              <a:buChar char="•"/>
            </a:pPr>
            <a:r>
              <a:rPr sz="1600" b="0">
                <a:solidFill>
                  <a:srgbClr val="262D34"/>
                </a:solidFill>
                <a:latin typeface="Aptos"/>
              </a:rPr>
              <a:t>The DSDR method was implemented on the IEEE 13-node feeder in DIgSILENT PowerFactory with real relay and fuse characteristics; the model meets the IEEE benchmark within about 2 %.</a:t>
            </a:r>
          </a:p>
          <a:p>
            <a:pPr marL="342900" indent="-285750">
              <a:spcAft>
                <a:spcPts val="700"/>
              </a:spcAft>
              <a:buChar char="•"/>
            </a:pPr>
            <a:r>
              <a:rPr sz="1600" b="0">
                <a:solidFill>
                  <a:srgbClr val="262D34"/>
                </a:solidFill>
                <a:latin typeface="Aptos"/>
              </a:rPr>
              <a:t>The DG breaks coordination: </a:t>
            </a:r>
            <a:r>
              <a:rPr sz="1600" b="1">
                <a:solidFill>
                  <a:srgbClr val="262D34"/>
                </a:solidFill>
                <a:latin typeface="Aptos"/>
              </a:rPr>
              <a:t>39 → 24 of 39</a:t>
            </a:r>
            <a:r>
              <a:rPr sz="1600" b="0">
                <a:solidFill>
                  <a:srgbClr val="262D34"/>
                </a:solidFill>
                <a:latin typeface="Aptos"/>
              </a:rPr>
              <a:t> cells with a conventional R2.</a:t>
            </a:r>
          </a:p>
          <a:p>
            <a:pPr marL="342900" indent="-285750">
              <a:spcAft>
                <a:spcPts val="700"/>
              </a:spcAft>
              <a:buChar char="•"/>
            </a:pPr>
            <a:r>
              <a:rPr sz="1600" b="0">
                <a:solidFill>
                  <a:srgbClr val="262D34"/>
                </a:solidFill>
                <a:latin typeface="Aptos"/>
              </a:rPr>
              <a:t>R2 as a DSDR with the fuse revision restores it: </a:t>
            </a:r>
            <a:r>
              <a:rPr sz="1600" b="1">
                <a:solidFill>
                  <a:srgbClr val="262D34"/>
                </a:solidFill>
                <a:latin typeface="Aptos"/>
              </a:rPr>
              <a:t>38 of 39</a:t>
            </a:r>
            <a:r>
              <a:rPr sz="1600" b="0">
                <a:solidFill>
                  <a:srgbClr val="262D34"/>
                </a:solidFill>
                <a:latin typeface="Aptos"/>
              </a:rPr>
              <a:t> cells (31 with a single setting).</a:t>
            </a:r>
          </a:p>
          <a:p>
            <a:pPr marL="342900" indent="-285750">
              <a:spcAft>
                <a:spcPts val="700"/>
              </a:spcAft>
              <a:buChar char="•"/>
            </a:pPr>
            <a:r>
              <a:rPr sz="1600" b="0">
                <a:solidFill>
                  <a:srgbClr val="262D34"/>
                </a:solidFill>
                <a:latin typeface="Aptos"/>
              </a:rPr>
              <a:t>The DSDR works in the zone between the grid and the DG; it needs the fuse revision, and faults below R2 (fed directly by the DG) remain a limit.</a:t>
            </a:r>
          </a:p>
          <a:p>
            <a:pPr marL="342900" indent="-285750">
              <a:spcAft>
                <a:spcPts val="700"/>
              </a:spcAft>
              <a:buChar char="•"/>
            </a:pPr>
            <a:r>
              <a:rPr sz="1600" b="0">
                <a:solidFill>
                  <a:srgbClr val="262D34"/>
                </a:solidFill>
                <a:latin typeface="Aptos"/>
              </a:rPr>
              <a:t>With fixed settings the CTI falls steadily as the DG penetration rises.</a:t>
            </a:r>
          </a:p>
        </p:txBody>
      </p:sp>
      <p:sp>
        <p:nvSpPr>
          <p:cNvPr id="5" name="TextBox 4"/>
          <p:cNvSpPr txBox="1"/>
          <p:nvPr/>
        </p:nvSpPr>
        <p:spPr>
          <a:xfrm>
            <a:off x="685800" y="4343400"/>
            <a:ext cx="10424160" cy="411480"/>
          </a:xfrm>
          <a:prstGeom prst="rect">
            <a:avLst/>
          </a:prstGeom>
          <a:noFill/>
        </p:spPr>
        <p:txBody>
          <a:bodyPr wrap="square">
            <a:spAutoFit/>
          </a:bodyPr>
          <a:lstStyle/>
          <a:p>
            <a:pPr>
              <a:spcAft>
                <a:spcPts val="800"/>
              </a:spcAft>
            </a:pPr>
            <a:r>
              <a:rPr sz="1800" b="0">
                <a:solidFill>
                  <a:srgbClr val="1B3755"/>
                </a:solidFill>
                <a:latin typeface="Aptos"/>
              </a:rPr>
              <a:t>Future work</a:t>
            </a:r>
          </a:p>
        </p:txBody>
      </p:sp>
      <p:sp>
        <p:nvSpPr>
          <p:cNvPr id="6" name="TextBox 5"/>
          <p:cNvSpPr txBox="1"/>
          <p:nvPr/>
        </p:nvSpPr>
        <p:spPr>
          <a:xfrm>
            <a:off x="685800" y="4754880"/>
            <a:ext cx="10424160" cy="1097280"/>
          </a:xfrm>
          <a:prstGeom prst="rect">
            <a:avLst/>
          </a:prstGeom>
          <a:noFill/>
        </p:spPr>
        <p:txBody>
          <a:bodyPr wrap="square">
            <a:spAutoFit/>
          </a:bodyPr>
          <a:lstStyle/>
          <a:p>
            <a:pPr marL="342900" indent="-285750">
              <a:spcAft>
                <a:spcPts val="800"/>
              </a:spcAft>
              <a:buChar char="•"/>
            </a:pPr>
            <a:r>
              <a:rPr sz="1500" b="0">
                <a:solidFill>
                  <a:srgbClr val="262D34"/>
                </a:solidFill>
                <a:latin typeface="Aptos"/>
              </a:rPr>
              <a:t>IEEE 34-node feeder; explicit directional element for R2; practical margins; setting-group change triggered by the DG state; inverter-based DG; hardware-in-the-loop tests.</a:t>
            </a:r>
          </a:p>
        </p:txBody>
      </p:sp>
      <p:sp>
        <p:nvSpPr>
          <p:cNvPr id="7" name="TextBox 6"/>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25/30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7. References</a:t>
            </a:r>
          </a:p>
        </p:txBody>
      </p:sp>
      <p:sp>
        <p:nvSpPr>
          <p:cNvPr id="4" name="TextBox 3"/>
          <p:cNvSpPr txBox="1"/>
          <p:nvPr/>
        </p:nvSpPr>
        <p:spPr>
          <a:xfrm>
            <a:off x="685800" y="1097280"/>
            <a:ext cx="10424160" cy="4754880"/>
          </a:xfrm>
          <a:prstGeom prst="rect">
            <a:avLst/>
          </a:prstGeom>
          <a:noFill/>
        </p:spPr>
        <p:txBody>
          <a:bodyPr wrap="square">
            <a:spAutoFit/>
          </a:bodyPr>
          <a:lstStyle/>
          <a:p>
            <a:pPr>
              <a:spcAft>
                <a:spcPts val="600"/>
              </a:spcAft>
            </a:pPr>
            <a:r>
              <a:rPr sz="1300" b="0">
                <a:solidFill>
                  <a:srgbClr val="262D34"/>
                </a:solidFill>
                <a:latin typeface="Aptos"/>
              </a:rPr>
              <a:t>[1] M. Yousaf, A. Jalilian, K. M. Muttaqi, D. Sutanto, "An adaptive overcurrent protection scheme for dual-setting directional recloser and fuse coordination in unbalanced distribution networks with distributed generation," IEEE Trans. Ind. Appl., vol. 58, no. 2, pp. 1831–1842, 2022.</a:t>
            </a:r>
          </a:p>
          <a:p>
            <a:pPr>
              <a:spcAft>
                <a:spcPts val="600"/>
              </a:spcAft>
            </a:pPr>
            <a:r>
              <a:rPr sz="1300" b="0">
                <a:solidFill>
                  <a:srgbClr val="262D34"/>
                </a:solidFill>
                <a:latin typeface="Aptos"/>
              </a:rPr>
              <a:t>[2] W. H. Kersting, "Radial distribution test feeders," IEEE Trans. Power Syst., vol. 6, no. 3, pp. 975–985, 1991.</a:t>
            </a:r>
          </a:p>
          <a:p>
            <a:pPr>
              <a:spcAft>
                <a:spcPts val="600"/>
              </a:spcAft>
            </a:pPr>
            <a:r>
              <a:rPr sz="1300" b="0">
                <a:solidFill>
                  <a:srgbClr val="262D34"/>
                </a:solidFill>
                <a:latin typeface="Aptos"/>
              </a:rPr>
              <a:t>[3] G. Benmouyal et al., "IEEE standard inverse-time characteristic equations for overcurrent relays," IEEE Trans. Power Del., vol. 14, no. 3, pp. 868–872, 1999.</a:t>
            </a:r>
          </a:p>
          <a:p>
            <a:pPr>
              <a:spcAft>
                <a:spcPts val="600"/>
              </a:spcAft>
            </a:pPr>
            <a:r>
              <a:rPr sz="1300" b="0">
                <a:solidFill>
                  <a:srgbClr val="262D34"/>
                </a:solidFill>
                <a:latin typeface="Aptos"/>
              </a:rPr>
              <a:t>[4] A. Naiem et al., "A classification technique for recloser-fuse coordination in distribution systems with distributed generation," IEEE Trans. Power Del., vol. 27, no. 1, pp. 176–185, 2012.</a:t>
            </a:r>
          </a:p>
          <a:p>
            <a:pPr>
              <a:spcAft>
                <a:spcPts val="600"/>
              </a:spcAft>
            </a:pPr>
            <a:r>
              <a:rPr sz="1300" b="0">
                <a:solidFill>
                  <a:srgbClr val="262D34"/>
                </a:solidFill>
                <a:latin typeface="Aptos"/>
              </a:rPr>
              <a:t>[5] M. Yousaf, K. M. Muttaqi, D. Sutanto, "Overcurrent protection scheme for the IEEE 13-node benchmark test feeder with improved selectivity," IEEE PES General Meeting, 2020.</a:t>
            </a:r>
          </a:p>
          <a:p>
            <a:pPr>
              <a:spcAft>
                <a:spcPts val="600"/>
              </a:spcAft>
            </a:pPr>
            <a:r>
              <a:rPr sz="1300" b="0">
                <a:solidFill>
                  <a:srgbClr val="262D34"/>
                </a:solidFill>
                <a:latin typeface="Aptos"/>
              </a:rPr>
              <a:t>[6] W. H. Kersting, G. Shirek, "Short circuit analysis of IEEE test feeders," IEEE PES T&amp;D, 2012.</a:t>
            </a:r>
          </a:p>
          <a:p>
            <a:pPr>
              <a:spcAft>
                <a:spcPts val="600"/>
              </a:spcAft>
            </a:pPr>
            <a:r>
              <a:rPr sz="1300" b="0">
                <a:solidFill>
                  <a:srgbClr val="262D34"/>
                </a:solidFill>
                <a:latin typeface="Aptos"/>
              </a:rPr>
              <a:t>[7] DIgSILENT GmbH, PowerFactory 2021 User Manual, 2021.</a:t>
            </a:r>
          </a:p>
          <a:p>
            <a:pPr>
              <a:spcAft>
                <a:spcPts val="600"/>
              </a:spcAft>
            </a:pPr>
            <a:r>
              <a:rPr sz="1300" b="0">
                <a:solidFill>
                  <a:srgbClr val="262D34"/>
                </a:solidFill>
                <a:latin typeface="Aptos"/>
              </a:rPr>
              <a:t>[8] GE Multilin, 735/737 Feeder Protection Relay – Instruction Manual (GEK-106291F), 2010.</a:t>
            </a:r>
          </a:p>
        </p:txBody>
      </p:sp>
      <p:sp>
        <p:nvSpPr>
          <p:cNvPr id="5" name="TextBox 4"/>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26/30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Appendix: Comparison with the Reference Paper</a:t>
            </a:r>
          </a:p>
        </p:txBody>
      </p:sp>
      <p:graphicFrame>
        <p:nvGraphicFramePr>
          <p:cNvPr id="4" name="Table 3"/>
          <p:cNvGraphicFramePr>
            <a:graphicFrameLocks noGrp="1"/>
          </p:cNvGraphicFramePr>
          <p:nvPr/>
        </p:nvGraphicFramePr>
        <p:xfrm>
          <a:off x="457200" y="1097280"/>
          <a:ext cx="10241278" cy="4297680"/>
        </p:xfrm>
        <a:graphic>
          <a:graphicData uri="http://schemas.openxmlformats.org/drawingml/2006/table">
            <a:tbl>
              <a:tblPr firstRow="0" bandRow="0">
                <a:tableStyleId>{5940675A-B579-460E-94D1-54222C63F5DA}</a:tableStyleId>
              </a:tblPr>
              <a:tblGrid>
                <a:gridCol w="2849747"/>
                <a:gridCol w="2582583"/>
                <a:gridCol w="2493529"/>
                <a:gridCol w="2315419"/>
              </a:tblGrid>
              <a:tr h="429768">
                <a:tc>
                  <a:txBody>
                    <a:bodyPr wrap="square"/>
                    <a:lstStyle/>
                    <a:p>
                      <a:pPr algn="l"/>
                      <a:r>
                        <a:rPr sz="1200" b="1">
                          <a:solidFill>
                            <a:srgbClr val="1B3755"/>
                          </a:solidFill>
                          <a:latin typeface="Aptos"/>
                        </a:rPr>
                        <a:t>Aspect</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1">
                          <a:solidFill>
                            <a:srgbClr val="1B3755"/>
                          </a:solidFill>
                          <a:latin typeface="Aptos"/>
                        </a:rPr>
                        <a:t>This project</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1">
                          <a:solidFill>
                            <a:srgbClr val="1B3755"/>
                          </a:solidFill>
                          <a:latin typeface="Aptos"/>
                        </a:rPr>
                        <a:t>Reference paper [1]</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1">
                          <a:solidFill>
                            <a:srgbClr val="1B3755"/>
                          </a:solidFill>
                          <a:latin typeface="Aptos"/>
                        </a:rPr>
                        <a:t>Assessment</a:t>
                      </a:r>
                    </a:p>
                  </a:txBody>
                  <a:tcPr marL="54864" marR="54864" marT="27432" marB="27432" anchor="ctr">
                    <a:solidFill>
                      <a:srgbClr val="EEF4F9"/>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429768">
                <a:tc>
                  <a:txBody>
                    <a:bodyPr wrap="square"/>
                    <a:lstStyle/>
                    <a:p>
                      <a:pPr algn="l"/>
                      <a:r>
                        <a:rPr sz="1200" b="0">
                          <a:solidFill>
                            <a:srgbClr val="262D34"/>
                          </a:solidFill>
                          <a:latin typeface="Aptos"/>
                        </a:rPr>
                        <a:t>Rated branch currents</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within 2 %</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Table II</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Very good</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429768">
                <a:tc>
                  <a:txBody>
                    <a:bodyPr wrap="square"/>
                    <a:lstStyle/>
                    <a:p>
                      <a:pPr algn="l"/>
                      <a:r>
                        <a:rPr sz="1200" b="0">
                          <a:solidFill>
                            <a:srgbClr val="262D34"/>
                          </a:solidFill>
                          <a:latin typeface="Aptos"/>
                        </a:rPr>
                        <a:t>Fault levels</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IEEE benchmark, 4.73 kA at head</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5.41 kA, some branches higher</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Lower</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429768">
                <a:tc>
                  <a:txBody>
                    <a:bodyPr wrap="square"/>
                    <a:lstStyle/>
                    <a:p>
                      <a:pPr algn="l"/>
                      <a:r>
                        <a:rPr sz="1200" b="0">
                          <a:solidFill>
                            <a:srgbClr val="262D34"/>
                          </a:solidFill>
                          <a:latin typeface="Aptos"/>
                        </a:rPr>
                        <a:t>R1 worked example (4219 A)</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0.096 / 1.926 s</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0.097 / 1.932 s</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Very good</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429768">
                <a:tc>
                  <a:txBody>
                    <a:bodyPr wrap="square"/>
                    <a:lstStyle/>
                    <a:p>
                      <a:pPr algn="l"/>
                      <a:r>
                        <a:rPr sz="1200" b="0">
                          <a:solidFill>
                            <a:srgbClr val="262D34"/>
                          </a:solidFill>
                          <a:latin typeface="Aptos"/>
                        </a:rPr>
                        <a:t>Coordination with DG, conventional R2</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24 of 39 held</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30 of 39 (Fig. 14)</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Good (29 cells agree)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429768">
                <a:tc>
                  <a:txBody>
                    <a:bodyPr wrap="square"/>
                    <a:lstStyle/>
                    <a:p>
                      <a:pPr algn="l"/>
                      <a:r>
                        <a:rPr sz="1200" b="0">
                          <a:solidFill>
                            <a:srgbClr val="262D34"/>
                          </a:solidFill>
                          <a:latin typeface="Aptos"/>
                        </a:rPr>
                        <a:t>Coordination with the DSDR</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38 of 39 held</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39 of 39 (Fig. 17)</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Good; one cell at dial limit</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429768">
                <a:tc>
                  <a:txBody>
                    <a:bodyPr wrap="square"/>
                    <a:lstStyle/>
                    <a:p>
                      <a:pPr algn="l"/>
                      <a:r>
                        <a:rPr sz="1200" b="0">
                          <a:solidFill>
                            <a:srgbClr val="262D34"/>
                          </a:solidFill>
                          <a:latin typeface="Aptos"/>
                        </a:rPr>
                        <a:t>Fuse current, LL at 646</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3.67 kA</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3.64 kA (Fig. 15)</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Very good</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429768">
                <a:tc>
                  <a:txBody>
                    <a:bodyPr wrap="square"/>
                    <a:lstStyle/>
                    <a:p>
                      <a:pPr algn="l"/>
                      <a:r>
                        <a:rPr sz="1200" b="0">
                          <a:solidFill>
                            <a:srgbClr val="262D34"/>
                          </a:solidFill>
                          <a:latin typeface="Aptos"/>
                        </a:rPr>
                        <a:t>R2 reverse current, LL at 646</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1.11 kA</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1.54 kA</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Lower</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429768">
                <a:tc>
                  <a:txBody>
                    <a:bodyPr wrap="square"/>
                    <a:lstStyle/>
                    <a:p>
                      <a:pPr algn="l"/>
                      <a:r>
                        <a:rPr sz="1200" b="0">
                          <a:solidFill>
                            <a:srgbClr val="262D34"/>
                          </a:solidFill>
                          <a:latin typeface="Aptos"/>
                        </a:rPr>
                        <a:t>EMT: fuse operation</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melts 1.25 s, clears 1.61 s</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1.21 s (Fig. 10)</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Close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r h="429768">
                <a:tc>
                  <a:txBody>
                    <a:bodyPr wrap="square"/>
                    <a:lstStyle/>
                    <a:p>
                      <a:pPr algn="l"/>
                      <a:r>
                        <a:rPr sz="1200" b="0">
                          <a:solidFill>
                            <a:srgbClr val="262D34"/>
                          </a:solidFill>
                          <a:latin typeface="Aptos"/>
                        </a:rPr>
                        <a:t>DG model</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Dynamic synchronous machine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Synchronous machine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c>
                  <a:txBody>
                    <a:bodyPr wrap="square"/>
                    <a:lstStyle/>
                    <a:p>
                      <a:pPr algn="ctr"/>
                      <a:r>
                        <a:rPr sz="1200" b="0">
                          <a:solidFill>
                            <a:srgbClr val="262D34"/>
                          </a:solidFill>
                          <a:latin typeface="Aptos"/>
                        </a:rPr>
                        <a:t>Same</a:t>
                      </a:r>
                    </a:p>
                  </a:txBody>
                  <a:tcPr marL="54864" marR="54864" marT="27432" marB="27432" anchor="ctr">
                    <a:solidFill>
                      <a:srgbClr val="FFFFFF"/>
                    </a:solidFill>
                    <a:lnL w="9525" cap="flat" cmpd="sng" algn="ctr">
                      <a:solidFill>
                        <a:srgbClr val="808080"/>
                      </a:solidFill>
                      <a:prstDash val="solid"/>
                    </a:lnL>
                    <a:lnR w="9525" cap="flat" cmpd="sng" algn="ctr">
                      <a:solidFill>
                        <a:srgbClr val="808080"/>
                      </a:solidFill>
                      <a:prstDash val="solid"/>
                    </a:lnR>
                    <a:lnT w="9525" cap="flat" cmpd="sng" algn="ctr">
                      <a:solidFill>
                        <a:srgbClr val="808080"/>
                      </a:solidFill>
                      <a:prstDash val="solid"/>
                    </a:lnT>
                    <a:lnB w="9525" cap="flat" cmpd="sng" algn="ctr">
                      <a:solidFill>
                        <a:srgbClr val="808080"/>
                      </a:solidFill>
                      <a:prstDash val="solid"/>
                    </a:lnB>
                  </a:tcPr>
                </a:tc>
              </a:tr>
            </a:tbl>
          </a:graphicData>
        </a:graphic>
      </p:graphicFrame>
      <p:sp>
        <p:nvSpPr>
          <p:cNvPr id="5" name="TextBox 4"/>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27/30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Appendix: Fault Levels – IEEE Benchmark, This Study and the Paper</a:t>
            </a:r>
          </a:p>
        </p:txBody>
      </p:sp>
      <p:pic>
        <p:nvPicPr>
          <p:cNvPr id="4" name="Picture 3" descr="Fault_level_benchmark.png"/>
          <p:cNvPicPr>
            <a:picLocks noChangeAspect="1"/>
          </p:cNvPicPr>
          <p:nvPr/>
        </p:nvPicPr>
        <p:blipFill>
          <a:blip r:embed="rId2"/>
          <a:stretch>
            <a:fillRect/>
          </a:stretch>
        </p:blipFill>
        <p:spPr>
          <a:xfrm>
            <a:off x="274320" y="1292962"/>
            <a:ext cx="7589520" cy="3631994"/>
          </a:xfrm>
          <a:prstGeom prst="rect">
            <a:avLst/>
          </a:prstGeom>
        </p:spPr>
      </p:pic>
      <p:sp>
        <p:nvSpPr>
          <p:cNvPr id="5" name="TextBox 4"/>
          <p:cNvSpPr txBox="1"/>
          <p:nvPr/>
        </p:nvSpPr>
        <p:spPr>
          <a:xfrm>
            <a:off x="274320" y="5257800"/>
            <a:ext cx="7589520" cy="320040"/>
          </a:xfrm>
          <a:prstGeom prst="rect">
            <a:avLst/>
          </a:prstGeom>
          <a:noFill/>
        </p:spPr>
        <p:txBody>
          <a:bodyPr wrap="none">
            <a:spAutoFit/>
          </a:bodyPr>
          <a:lstStyle/>
          <a:p>
            <a:pPr algn="ctr"/>
            <a:r>
              <a:rPr sz="1200" i="1">
                <a:solidFill>
                  <a:srgbClr val="6B727A"/>
                </a:solidFill>
                <a:latin typeface="Aptos"/>
              </a:rPr>
              <a:t>Maximum fault current, DG out. Benchmark: Kersting &amp; Shirek [6], values as quoted in [5]</a:t>
            </a:r>
          </a:p>
        </p:txBody>
      </p:sp>
      <p:sp>
        <p:nvSpPr>
          <p:cNvPr id="6" name="TextBox 5"/>
          <p:cNvSpPr txBox="1"/>
          <p:nvPr/>
        </p:nvSpPr>
        <p:spPr>
          <a:xfrm>
            <a:off x="8001000" y="1143000"/>
            <a:ext cx="3566160" cy="4754880"/>
          </a:xfrm>
          <a:prstGeom prst="rect">
            <a:avLst/>
          </a:prstGeom>
          <a:noFill/>
        </p:spPr>
        <p:txBody>
          <a:bodyPr wrap="square">
            <a:spAutoFit/>
          </a:bodyPr>
          <a:lstStyle/>
          <a:p>
            <a:pPr marL="342900" indent="-285750">
              <a:spcAft>
                <a:spcPts val="800"/>
              </a:spcAft>
              <a:buChar char="•"/>
            </a:pPr>
            <a:r>
              <a:rPr sz="1400" b="1">
                <a:solidFill>
                  <a:srgbClr val="262D34"/>
                </a:solidFill>
                <a:latin typeface="Aptos"/>
              </a:rPr>
              <a:t>This study vs IEEE benchmark:</a:t>
            </a:r>
            <a:r>
              <a:rPr sz="1400" b="0">
                <a:solidFill>
                  <a:srgbClr val="262D34"/>
                </a:solidFill>
                <a:latin typeface="Aptos"/>
              </a:rPr>
              <a:t> within 2 % at 10 of 11 nodes; largest difference 4.7 % (652, LG).</a:t>
            </a:r>
          </a:p>
          <a:p>
            <a:pPr marL="342900" indent="-285750">
              <a:spcAft>
                <a:spcPts val="800"/>
              </a:spcAft>
              <a:buChar char="•"/>
            </a:pPr>
            <a:r>
              <a:rPr sz="1400" b="1">
                <a:solidFill>
                  <a:srgbClr val="262D34"/>
                </a:solidFill>
                <a:latin typeface="Aptos"/>
              </a:rPr>
              <a:t>Paper vs benchmark:</a:t>
            </a:r>
            <a:r>
              <a:rPr sz="1400" b="0">
                <a:solidFill>
                  <a:srgbClr val="262D34"/>
                </a:solidFill>
                <a:latin typeface="Aptos"/>
              </a:rPr>
              <a:t> 4 % to 151 % higher.</a:t>
            </a:r>
          </a:p>
          <a:p>
            <a:pPr marL="342900" indent="-285750">
              <a:spcAft>
                <a:spcPts val="800"/>
              </a:spcAft>
              <a:buChar char="•"/>
            </a:pPr>
            <a:r>
              <a:rPr sz="1400" b="0">
                <a:solidFill>
                  <a:srgbClr val="262D34"/>
                </a:solidFill>
                <a:latin typeface="Aptos"/>
              </a:rPr>
              <a:t>The paper's 6.73 kA (632–633) and 7.83 kA (692–675) exceed its own </a:t>
            </a:r>
            <a:r>
              <a:rPr sz="1400" b="1">
                <a:solidFill>
                  <a:srgbClr val="262D34"/>
                </a:solidFill>
                <a:latin typeface="Aptos"/>
              </a:rPr>
              <a:t>5.41 kA at the feeder head</a:t>
            </a:r>
            <a:r>
              <a:rPr sz="1400" b="0">
                <a:solidFill>
                  <a:srgbClr val="262D34"/>
                </a:solidFill>
                <a:latin typeface="Aptos"/>
              </a:rPr>
              <a:t> – not possible in a radial feeder without DG.</a:t>
            </a:r>
          </a:p>
          <a:p>
            <a:pPr marL="342900" indent="-285750">
              <a:spcAft>
                <a:spcPts val="800"/>
              </a:spcAft>
              <a:buChar char="•"/>
            </a:pPr>
            <a:r>
              <a:rPr sz="1400" b="0">
                <a:solidFill>
                  <a:srgbClr val="262D34"/>
                </a:solidFill>
                <a:latin typeface="Aptos"/>
              </a:rPr>
              <a:t>So the model was validated against the benchmark, not tuned to the paper's Table II.</a:t>
            </a:r>
          </a:p>
        </p:txBody>
      </p:sp>
      <p:sp>
        <p:nvSpPr>
          <p:cNvPr id="7" name="TextBox 6"/>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28/30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Appendix: CTI with DG Penetration – Study and Paper</a:t>
            </a:r>
          </a:p>
        </p:txBody>
      </p:sp>
      <p:pic>
        <p:nvPicPr>
          <p:cNvPr id="4" name="Picture 3" descr="pen_ring_vs_paper.png"/>
          <p:cNvPicPr>
            <a:picLocks noChangeAspect="1"/>
          </p:cNvPicPr>
          <p:nvPr/>
        </p:nvPicPr>
        <p:blipFill>
          <a:blip r:embed="rId2"/>
          <a:stretch>
            <a:fillRect/>
          </a:stretch>
        </p:blipFill>
        <p:spPr>
          <a:xfrm>
            <a:off x="365760" y="1707968"/>
            <a:ext cx="6949440" cy="3350622"/>
          </a:xfrm>
          <a:prstGeom prst="rect">
            <a:avLst/>
          </a:prstGeom>
        </p:spPr>
      </p:pic>
      <p:sp>
        <p:nvSpPr>
          <p:cNvPr id="5" name="TextBox 4"/>
          <p:cNvSpPr txBox="1"/>
          <p:nvPr/>
        </p:nvSpPr>
        <p:spPr>
          <a:xfrm>
            <a:off x="7498079" y="1188720"/>
            <a:ext cx="3657600" cy="4480560"/>
          </a:xfrm>
          <a:prstGeom prst="rect">
            <a:avLst/>
          </a:prstGeom>
          <a:noFill/>
        </p:spPr>
        <p:txBody>
          <a:bodyPr wrap="square">
            <a:spAutoFit/>
          </a:bodyPr>
          <a:lstStyle/>
          <a:p>
            <a:pPr marL="342900" indent="-285750">
              <a:spcAft>
                <a:spcPts val="800"/>
              </a:spcAft>
              <a:buChar char="•"/>
            </a:pPr>
            <a:r>
              <a:rPr sz="1500" b="0">
                <a:solidFill>
                  <a:srgbClr val="262D34"/>
                </a:solidFill>
                <a:latin typeface="Aptos"/>
              </a:rPr>
              <a:t>Both show the CTI </a:t>
            </a:r>
            <a:r>
              <a:rPr sz="1500" b="1">
                <a:solidFill>
                  <a:srgbClr val="262D34"/>
                </a:solidFill>
                <a:latin typeface="Aptos"/>
              </a:rPr>
              <a:t>decreasing</a:t>
            </a:r>
            <a:r>
              <a:rPr sz="1500" b="0">
                <a:solidFill>
                  <a:srgbClr val="262D34"/>
                </a:solidFill>
                <a:latin typeface="Aptos"/>
              </a:rPr>
              <a:t> as the DG penetration rises.</a:t>
            </a:r>
          </a:p>
          <a:p>
            <a:pPr marL="342900" indent="-285750">
              <a:spcAft>
                <a:spcPts val="800"/>
              </a:spcAft>
              <a:buChar char="•"/>
            </a:pPr>
            <a:r>
              <a:rPr sz="1500" b="0">
                <a:solidFill>
                  <a:srgbClr val="262D34"/>
                </a:solidFill>
                <a:latin typeface="Aptos"/>
              </a:rPr>
              <a:t>The paper's values are read from its Fig. 7.</a:t>
            </a:r>
          </a:p>
          <a:p>
            <a:pPr marL="342900" indent="-285750">
              <a:spcAft>
                <a:spcPts val="800"/>
              </a:spcAft>
              <a:buChar char="•"/>
            </a:pPr>
            <a:r>
              <a:rPr sz="1500" b="0">
                <a:solidFill>
                  <a:srgbClr val="262D34"/>
                </a:solidFill>
                <a:latin typeface="Aptos"/>
              </a:rPr>
              <a:t>Where the sign changes depends on the starting margin, i.e. on fuse sizes and settings that the paper does not publish.</a:t>
            </a:r>
          </a:p>
          <a:p>
            <a:pPr marL="342900" indent="-285750">
              <a:spcAft>
                <a:spcPts val="800"/>
              </a:spcAft>
              <a:buChar char="•"/>
            </a:pPr>
            <a:r>
              <a:rPr sz="1500" b="0">
                <a:solidFill>
                  <a:srgbClr val="262D34"/>
                </a:solidFill>
                <a:latin typeface="Aptos"/>
              </a:rPr>
              <a:t>Central finding reproduced: the DSDR restores coordination between the grid and the DG.</a:t>
            </a:r>
          </a:p>
        </p:txBody>
      </p:sp>
      <p:sp>
        <p:nvSpPr>
          <p:cNvPr id="6" name="TextBox 5"/>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29/30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91440"/>
          </a:xfrm>
          <a:prstGeom prst="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274320"/>
            <a:ext cx="10972800" cy="566928"/>
          </a:xfrm>
          <a:prstGeom prst="rect">
            <a:avLst/>
          </a:prstGeom>
          <a:noFill/>
        </p:spPr>
        <p:txBody>
          <a:bodyPr wrap="none">
            <a:spAutoFit/>
          </a:bodyPr>
          <a:lstStyle/>
          <a:p>
            <a:r>
              <a:rPr sz="2700" b="1">
                <a:solidFill>
                  <a:srgbClr val="1B3755"/>
                </a:solidFill>
                <a:latin typeface="Aptos Display"/>
              </a:rPr>
              <a:t>Thank You</a:t>
            </a:r>
          </a:p>
        </p:txBody>
      </p:sp>
      <p:sp>
        <p:nvSpPr>
          <p:cNvPr id="4" name="Rounded Rectangle 3"/>
          <p:cNvSpPr/>
          <p:nvPr/>
        </p:nvSpPr>
        <p:spPr>
          <a:xfrm>
            <a:off x="1828800" y="2377440"/>
            <a:ext cx="7616952" cy="1188720"/>
          </a:xfrm>
          <a:prstGeom prst="roundRect">
            <a:avLst/>
          </a:prstGeom>
          <a:solidFill>
            <a:srgbClr val="1B3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3000" b="1">
                <a:solidFill>
                  <a:srgbClr val="FFFFFF"/>
                </a:solidFill>
                <a:latin typeface="Aptos Display"/>
              </a:rPr>
              <a:t>Questions and Discussion</a:t>
            </a:r>
          </a:p>
        </p:txBody>
      </p:sp>
      <p:sp>
        <p:nvSpPr>
          <p:cNvPr id="5" name="TextBox 4"/>
          <p:cNvSpPr txBox="1"/>
          <p:nvPr/>
        </p:nvSpPr>
        <p:spPr>
          <a:xfrm>
            <a:off x="594360" y="6510528"/>
            <a:ext cx="10972800" cy="164592"/>
          </a:xfrm>
          <a:prstGeom prst="rect">
            <a:avLst/>
          </a:prstGeom>
          <a:noFill/>
        </p:spPr>
        <p:txBody>
          <a:bodyPr wrap="none">
            <a:spAutoFit/>
          </a:bodyPr>
          <a:lstStyle/>
          <a:p>
            <a:pPr algn="r"/>
            <a:r>
              <a:rPr sz="900">
                <a:solidFill>
                  <a:srgbClr val="6B727A"/>
                </a:solidFill>
                <a:latin typeface="Aptos"/>
              </a:rPr>
              <a:t>30/30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202</TotalTime>
  <Words>1745</Words>
  <Application>Microsoft Office PowerPoint</Application>
  <PresentationFormat>Widescreen</PresentationFormat>
  <Paragraphs>345</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Rabin</dc:creator>
  <cp:keywords/>
  <dc:description>generated using python-pptx</dc:description>
  <cp:lastModifiedBy>Rabin</cp:lastModifiedBy>
  <cp:revision>10</cp:revision>
  <dcterms:created xsi:type="dcterms:W3CDTF">2013-01-27T09:14:16Z</dcterms:created>
  <dcterms:modified xsi:type="dcterms:W3CDTF">2026-09-06T18:34:17Z</dcterms:modified>
  <cp:category/>
</cp:coreProperties>
</file>